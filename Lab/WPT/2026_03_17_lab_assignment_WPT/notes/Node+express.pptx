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57" r:id="rId6"/>
    <p:sldId id="259" r:id="rId7"/>
    <p:sldId id="258" r:id="rId8"/>
    <p:sldId id="273" r:id="rId9"/>
    <p:sldId id="274" r:id="rId10"/>
    <p:sldId id="275" r:id="rId11"/>
    <p:sldId id="276" r:id="rId12"/>
    <p:sldId id="277" r:id="rId13"/>
    <p:sldId id="278" r:id="rId14"/>
    <p:sldId id="279" r:id="rId15"/>
    <p:sldId id="280" r:id="rId16"/>
    <p:sldId id="281" r:id="rId17"/>
    <p:sldId id="282" r:id="rId18"/>
    <p:sldId id="283" r:id="rId19"/>
    <p:sldId id="285" r:id="rId20"/>
    <p:sldId id="286" r:id="rId21"/>
    <p:sldId id="287" r:id="rId22"/>
    <p:sldId id="284" r:id="rId23"/>
    <p:sldId id="261" r:id="rId24"/>
    <p:sldId id="263" r:id="rId25"/>
    <p:sldId id="264" r:id="rId26"/>
    <p:sldId id="265" r:id="rId27"/>
    <p:sldId id="266" r:id="rId28"/>
    <p:sldId id="267" r:id="rId29"/>
    <p:sldId id="268" r:id="rId30"/>
    <p:sldId id="26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612"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73973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383714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670B42-FAB6-44BC-9976-A9C3F3430581}"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757779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E670B42-FAB6-44BC-9976-A9C3F3430581}"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2829884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E670B42-FAB6-44BC-9976-A9C3F3430581}" type="datetimeFigureOut">
              <a:rPr lang="en-IN" smtClean="0"/>
              <a:t>17-03-2026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57448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E670B42-FAB6-44BC-9976-A9C3F3430581}" type="datetimeFigureOut">
              <a:rPr lang="en-IN" smtClean="0"/>
              <a:t>17-03-2026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1239816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670B42-FAB6-44BC-9976-A9C3F3430581}" type="datetimeFigureOut">
              <a:rPr lang="en-IN" smtClean="0"/>
              <a:t>17-03-2026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179714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670B42-FAB6-44BC-9976-A9C3F3430581}"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85381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670B42-FAB6-44BC-9976-A9C3F3430581}"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3500139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487828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670B42-FAB6-44BC-9976-A9C3F3430581}"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E7BE-F2AE-4B20-9D8A-1ED0D81F5143}" type="slidenum">
              <a:rPr lang="en-IN" smtClean="0"/>
              <a:t>‹#›</a:t>
            </a:fld>
            <a:endParaRPr lang="en-IN"/>
          </a:p>
        </p:txBody>
      </p:sp>
    </p:spTree>
    <p:extLst>
      <p:ext uri="{BB962C8B-B14F-4D97-AF65-F5344CB8AC3E}">
        <p14:creationId xmlns:p14="http://schemas.microsoft.com/office/powerpoint/2010/main" val="104115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670B42-FAB6-44BC-9976-A9C3F3430581}" type="datetimeFigureOut">
              <a:rPr lang="en-IN" smtClean="0"/>
              <a:t>17-03-2026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7E7BE-F2AE-4B20-9D8A-1ED0D81F5143}" type="slidenum">
              <a:rPr lang="en-IN" smtClean="0"/>
              <a:t>‹#›</a:t>
            </a:fld>
            <a:endParaRPr lang="en-IN"/>
          </a:p>
        </p:txBody>
      </p:sp>
    </p:spTree>
    <p:extLst>
      <p:ext uri="{BB962C8B-B14F-4D97-AF65-F5344CB8AC3E}">
        <p14:creationId xmlns:p14="http://schemas.microsoft.com/office/powerpoint/2010/main" val="2470748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geeksforgeeks.org/node-js/node-js-fs-mkdir-method/" TargetMode="External"/><Relationship Id="rId3" Type="http://schemas.openxmlformats.org/officeDocument/2006/relationships/hyperlink" Target="https://www.geeksforgeeks.org/node-js/node-js-fs-writefile-method/" TargetMode="External"/><Relationship Id="rId7" Type="http://schemas.openxmlformats.org/officeDocument/2006/relationships/hyperlink" Target="https://www.geeksforgeeks.org/node-js/node-js-fs-unlink-method/" TargetMode="External"/><Relationship Id="rId2" Type="http://schemas.openxmlformats.org/officeDocument/2006/relationships/hyperlink" Target="https://www.geeksforgeeks.org/node-js/node-js-fs-readfile-method/" TargetMode="External"/><Relationship Id="rId1" Type="http://schemas.openxmlformats.org/officeDocument/2006/relationships/slideLayout" Target="../slideLayouts/slideLayout2.xml"/><Relationship Id="rId6" Type="http://schemas.openxmlformats.org/officeDocument/2006/relationships/hyperlink" Target="https://www.geeksforgeeks.org/node-js/node-js-fs-stat-method/" TargetMode="External"/><Relationship Id="rId5" Type="http://schemas.openxmlformats.org/officeDocument/2006/relationships/hyperlink" Target="https://www.geeksforgeeks.org/node-js/node-js-fs-readdir-method/" TargetMode="External"/><Relationship Id="rId4" Type="http://schemas.openxmlformats.org/officeDocument/2006/relationships/hyperlink" Target="https://www.geeksforgeeks.org/node-js/node-js-fs-appendfile-function/" TargetMode="External"/><Relationship Id="rId9" Type="http://schemas.openxmlformats.org/officeDocument/2006/relationships/hyperlink" Target="https://www.geeksforgeeks.org/node-js/node-js-fs-rmdir-metho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283125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Asynchronous Programming</a:t>
            </a:r>
            <a:endParaRPr lang="en-IN" dirty="0"/>
          </a:p>
        </p:txBody>
      </p:sp>
      <p:sp>
        <p:nvSpPr>
          <p:cNvPr id="3" name="Content Placeholder 2"/>
          <p:cNvSpPr>
            <a:spLocks noGrp="1"/>
          </p:cNvSpPr>
          <p:nvPr>
            <p:ph idx="1"/>
          </p:nvPr>
        </p:nvSpPr>
        <p:spPr/>
        <p:txBody>
          <a:bodyPr/>
          <a:lstStyle/>
          <a:p>
            <a:r>
              <a:rPr lang="en-GB" dirty="0" smtClean="0"/>
              <a:t> AJAX </a:t>
            </a:r>
          </a:p>
          <a:p>
            <a:r>
              <a:rPr lang="en-GB" dirty="0" err="1" smtClean="0"/>
              <a:t>Callback</a:t>
            </a:r>
            <a:r>
              <a:rPr lang="en-GB" dirty="0" smtClean="0"/>
              <a:t> -  timer methods</a:t>
            </a:r>
          </a:p>
          <a:p>
            <a:r>
              <a:rPr lang="en-GB" dirty="0" smtClean="0"/>
              <a:t>Promise </a:t>
            </a:r>
          </a:p>
          <a:p>
            <a:endParaRPr lang="en-IN" dirty="0"/>
          </a:p>
        </p:txBody>
      </p:sp>
    </p:spTree>
    <p:extLst>
      <p:ext uri="{BB962C8B-B14F-4D97-AF65-F5344CB8AC3E}">
        <p14:creationId xmlns:p14="http://schemas.microsoft.com/office/powerpoint/2010/main" val="4475798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GB" b="1" dirty="0"/>
              <a:t>How </a:t>
            </a:r>
            <a:r>
              <a:rPr lang="en-GB" b="1" dirty="0" err="1"/>
              <a:t>Async</a:t>
            </a:r>
            <a:r>
              <a:rPr lang="en-GB" b="1" dirty="0"/>
              <a:t>/ Await works?</a:t>
            </a:r>
          </a:p>
          <a:p>
            <a:pPr fontAlgn="base"/>
            <a:r>
              <a:rPr lang="en-GB" dirty="0"/>
              <a:t>Define an </a:t>
            </a:r>
            <a:r>
              <a:rPr lang="en-GB" dirty="0" err="1"/>
              <a:t>async</a:t>
            </a:r>
            <a:r>
              <a:rPr lang="en-GB" dirty="0"/>
              <a:t> function which means use the </a:t>
            </a:r>
            <a:r>
              <a:rPr lang="en-GB" dirty="0" err="1"/>
              <a:t>async</a:t>
            </a:r>
            <a:r>
              <a:rPr lang="en-GB" dirty="0"/>
              <a:t> keyword before the function definition. This functional </a:t>
            </a:r>
            <a:r>
              <a:rPr lang="en-GB" dirty="0" err="1"/>
              <a:t>implecitly</a:t>
            </a:r>
            <a:r>
              <a:rPr lang="en-GB" dirty="0"/>
              <a:t> returns a </a:t>
            </a:r>
            <a:r>
              <a:rPr lang="en-GB" dirty="0" smtClean="0"/>
              <a:t>promise.</a:t>
            </a:r>
          </a:p>
          <a:p>
            <a:pPr marL="0" indent="0" fontAlgn="base">
              <a:buNone/>
            </a:pPr>
            <a:r>
              <a:rPr lang="en-GB" dirty="0"/>
              <a:t> </a:t>
            </a:r>
            <a:r>
              <a:rPr lang="en-GB" dirty="0" smtClean="0"/>
              <a:t>             </a:t>
            </a:r>
            <a:r>
              <a:rPr lang="en-GB" dirty="0" err="1" smtClean="0"/>
              <a:t>async</a:t>
            </a:r>
            <a:r>
              <a:rPr lang="en-GB" dirty="0" smtClean="0"/>
              <a:t> </a:t>
            </a:r>
            <a:r>
              <a:rPr lang="en-GB" dirty="0"/>
              <a:t>fun(){</a:t>
            </a:r>
            <a:br>
              <a:rPr lang="en-GB" dirty="0"/>
            </a:br>
            <a:r>
              <a:rPr lang="en-GB" dirty="0" smtClean="0"/>
              <a:t>			//... </a:t>
            </a:r>
            <a:r>
              <a:rPr lang="en-GB" dirty="0"/>
              <a:t/>
            </a:r>
            <a:br>
              <a:rPr lang="en-GB" dirty="0"/>
            </a:br>
            <a:r>
              <a:rPr lang="en-GB" dirty="0" smtClean="0"/>
              <a:t>		}</a:t>
            </a:r>
          </a:p>
          <a:p>
            <a:pPr fontAlgn="base"/>
            <a:r>
              <a:rPr lang="en-GB" dirty="0" smtClean="0"/>
              <a:t>Then </a:t>
            </a:r>
            <a:r>
              <a:rPr lang="en-GB" dirty="0"/>
              <a:t>use the await keyword before the function returning a promise, it pauses the execution </a:t>
            </a:r>
            <a:r>
              <a:rPr lang="en-GB" dirty="0" err="1"/>
              <a:t>untill</a:t>
            </a:r>
            <a:r>
              <a:rPr lang="en-GB" dirty="0"/>
              <a:t> the promise is </a:t>
            </a:r>
            <a:r>
              <a:rPr lang="en-GB" dirty="0" err="1" smtClean="0"/>
              <a:t>respolved</a:t>
            </a:r>
            <a:endParaRPr lang="en-GB" dirty="0" smtClean="0"/>
          </a:p>
          <a:p>
            <a:pPr fontAlgn="base"/>
            <a:endParaRPr lang="en-GB" dirty="0"/>
          </a:p>
          <a:p>
            <a:pPr marL="0" indent="0" fontAlgn="base">
              <a:buNone/>
            </a:pPr>
            <a:r>
              <a:rPr lang="en-GB" dirty="0" smtClean="0"/>
              <a:t>	</a:t>
            </a:r>
            <a:r>
              <a:rPr lang="en-GB" dirty="0" err="1" smtClean="0"/>
              <a:t>async</a:t>
            </a:r>
            <a:r>
              <a:rPr lang="en-GB" dirty="0" smtClean="0"/>
              <a:t> </a:t>
            </a:r>
            <a:r>
              <a:rPr lang="en-GB" dirty="0"/>
              <a:t>fun(){</a:t>
            </a:r>
            <a:br>
              <a:rPr lang="en-GB" dirty="0"/>
            </a:br>
            <a:r>
              <a:rPr lang="en-GB" dirty="0" smtClean="0"/>
              <a:t>			let </a:t>
            </a:r>
            <a:r>
              <a:rPr lang="en-GB" dirty="0"/>
              <a:t>response = await </a:t>
            </a:r>
            <a:r>
              <a:rPr lang="en-GB" dirty="0" err="1"/>
              <a:t>fetchData</a:t>
            </a:r>
            <a:r>
              <a:rPr lang="en-GB" dirty="0"/>
              <a:t>();</a:t>
            </a:r>
            <a:br>
              <a:rPr lang="en-GB" dirty="0"/>
            </a:br>
            <a:r>
              <a:rPr lang="en-GB" dirty="0" smtClean="0"/>
              <a:t>		return </a:t>
            </a:r>
            <a:r>
              <a:rPr lang="en-GB" dirty="0"/>
              <a:t>response;</a:t>
            </a:r>
            <a:br>
              <a:rPr lang="en-GB" dirty="0"/>
            </a:br>
            <a:r>
              <a:rPr lang="en-GB" dirty="0" smtClean="0"/>
              <a:t>	}</a:t>
            </a:r>
            <a:r>
              <a:rPr lang="en-GB" dirty="0"/>
              <a:t/>
            </a:r>
            <a:br>
              <a:rPr lang="en-GB" dirty="0"/>
            </a:br>
            <a:endParaRPr lang="en-IN" dirty="0"/>
          </a:p>
        </p:txBody>
      </p:sp>
    </p:spTree>
    <p:extLst>
      <p:ext uri="{BB962C8B-B14F-4D97-AF65-F5344CB8AC3E}">
        <p14:creationId xmlns:p14="http://schemas.microsoft.com/office/powerpoint/2010/main" val="1256727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dirty="0" err="1" smtClean="0"/>
              <a:t>Async</a:t>
            </a:r>
            <a:r>
              <a:rPr lang="en-GB" dirty="0" smtClean="0"/>
              <a:t> </a:t>
            </a:r>
            <a:r>
              <a:rPr lang="en-GB" dirty="0"/>
              <a:t>await are the modern way of handling asynchronous operations. They act as the syntactic sugar for the promises providing synchronous like syntax. It helps to write clean and maintainable code.</a:t>
            </a:r>
          </a:p>
          <a:p>
            <a:endParaRPr lang="en-IN" dirty="0"/>
          </a:p>
        </p:txBody>
      </p:sp>
    </p:spTree>
    <p:extLst>
      <p:ext uri="{BB962C8B-B14F-4D97-AF65-F5344CB8AC3E}">
        <p14:creationId xmlns:p14="http://schemas.microsoft.com/office/powerpoint/2010/main" val="17246324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Modules 	</a:t>
            </a:r>
            <a:endParaRPr lang="en-IN" dirty="0"/>
          </a:p>
        </p:txBody>
      </p:sp>
      <p:sp>
        <p:nvSpPr>
          <p:cNvPr id="3" name="Content Placeholder 2"/>
          <p:cNvSpPr>
            <a:spLocks noGrp="1"/>
          </p:cNvSpPr>
          <p:nvPr>
            <p:ph idx="1"/>
          </p:nvPr>
        </p:nvSpPr>
        <p:spPr/>
        <p:txBody>
          <a:bodyPr>
            <a:normAutofit fontScale="85000" lnSpcReduction="20000"/>
          </a:bodyPr>
          <a:lstStyle/>
          <a:p>
            <a:r>
              <a:rPr lang="en-GB" dirty="0" smtClean="0"/>
              <a:t>We can use inbuilt modules from Node</a:t>
            </a:r>
          </a:p>
          <a:p>
            <a:pPr marL="0" indent="0">
              <a:buNone/>
            </a:pPr>
            <a:r>
              <a:rPr lang="en-GB" dirty="0" smtClean="0"/>
              <a:t>            Like fs , http , </a:t>
            </a:r>
            <a:r>
              <a:rPr lang="en-GB" dirty="0" err="1" smtClean="0"/>
              <a:t>url</a:t>
            </a:r>
            <a:r>
              <a:rPr lang="en-GB" dirty="0" smtClean="0"/>
              <a:t> </a:t>
            </a:r>
          </a:p>
          <a:p>
            <a:pPr marL="0" indent="0">
              <a:buNone/>
            </a:pPr>
            <a:r>
              <a:rPr lang="en-GB" dirty="0" smtClean="0"/>
              <a:t>As per requirement we can create our own modules also </a:t>
            </a:r>
          </a:p>
          <a:p>
            <a:pPr marL="0" indent="0">
              <a:buNone/>
            </a:pPr>
            <a:endParaRPr lang="en-GB" dirty="0"/>
          </a:p>
          <a:p>
            <a:pPr marL="0" indent="0">
              <a:buNone/>
            </a:pPr>
            <a:r>
              <a:rPr lang="en-GB" dirty="0" smtClean="0"/>
              <a:t>Modules are two type </a:t>
            </a:r>
          </a:p>
          <a:p>
            <a:pPr marL="514350" indent="-514350">
              <a:buAutoNum type="arabicParenR"/>
            </a:pPr>
            <a:r>
              <a:rPr lang="en-GB" dirty="0" smtClean="0"/>
              <a:t>Common JS                                    </a:t>
            </a:r>
          </a:p>
          <a:p>
            <a:pPr marL="0" indent="0">
              <a:buNone/>
            </a:pPr>
            <a:endParaRPr lang="en-GB" dirty="0" smtClean="0"/>
          </a:p>
          <a:p>
            <a:pPr marL="0" indent="0">
              <a:buNone/>
            </a:pPr>
            <a:r>
              <a:rPr lang="en-GB" dirty="0" smtClean="0"/>
              <a:t>Every .</a:t>
            </a:r>
            <a:r>
              <a:rPr lang="en-GB" dirty="0" err="1" smtClean="0"/>
              <a:t>js</a:t>
            </a:r>
            <a:r>
              <a:rPr lang="en-GB" dirty="0" smtClean="0"/>
              <a:t> file is a module</a:t>
            </a:r>
          </a:p>
          <a:p>
            <a:pPr marL="0" indent="0">
              <a:buNone/>
            </a:pPr>
            <a:endParaRPr lang="en-GB" dirty="0"/>
          </a:p>
          <a:p>
            <a:pPr marL="0" indent="0">
              <a:buNone/>
            </a:pPr>
            <a:r>
              <a:rPr lang="en-GB" dirty="0" smtClean="0"/>
              <a:t>We can use </a:t>
            </a:r>
            <a:r>
              <a:rPr lang="en-GB" dirty="0" err="1" smtClean="0"/>
              <a:t>keywors</a:t>
            </a:r>
            <a:r>
              <a:rPr lang="en-GB" dirty="0" smtClean="0"/>
              <a:t> </a:t>
            </a:r>
            <a:r>
              <a:rPr lang="en-GB" b="1" dirty="0" smtClean="0"/>
              <a:t>exports  , </a:t>
            </a:r>
            <a:r>
              <a:rPr lang="en-GB" b="1" dirty="0" err="1" smtClean="0"/>
              <a:t>module.exports</a:t>
            </a:r>
            <a:r>
              <a:rPr lang="en-GB" b="1" dirty="0" smtClean="0"/>
              <a:t>  </a:t>
            </a:r>
            <a:r>
              <a:rPr lang="en-GB" dirty="0" smtClean="0"/>
              <a:t>and to use </a:t>
            </a:r>
            <a:r>
              <a:rPr lang="en-GB" b="1" dirty="0" smtClean="0"/>
              <a:t>require()</a:t>
            </a:r>
            <a:endParaRPr lang="en-GB" b="1" dirty="0"/>
          </a:p>
        </p:txBody>
      </p:sp>
    </p:spTree>
    <p:extLst>
      <p:ext uri="{BB962C8B-B14F-4D97-AF65-F5344CB8AC3E}">
        <p14:creationId xmlns:p14="http://schemas.microsoft.com/office/powerpoint/2010/main" val="36854754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e</a:t>
            </a:r>
            <a:r>
              <a:rPr lang="en-GB" dirty="0" smtClean="0"/>
              <a:t>xport </a:t>
            </a:r>
          </a:p>
          <a:p>
            <a:endParaRPr lang="en-GB" dirty="0"/>
          </a:p>
          <a:p>
            <a:r>
              <a:rPr lang="en-GB" dirty="0" smtClean="0"/>
              <a:t>import</a:t>
            </a:r>
            <a:r>
              <a:rPr lang="en-GB" dirty="0"/>
              <a:t> * as math from './</a:t>
            </a:r>
            <a:r>
              <a:rPr lang="en-GB" dirty="0" err="1"/>
              <a:t>math.mjs</a:t>
            </a:r>
            <a:r>
              <a:rPr lang="en-GB" dirty="0"/>
              <a:t>';</a:t>
            </a:r>
            <a:endParaRPr lang="en-IN" dirty="0"/>
          </a:p>
        </p:txBody>
      </p:sp>
    </p:spTree>
    <p:extLst>
      <p:ext uri="{BB962C8B-B14F-4D97-AF65-F5344CB8AC3E}">
        <p14:creationId xmlns:p14="http://schemas.microsoft.com/office/powerpoint/2010/main" val="2778619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endParaRPr lang="en-IN" dirty="0"/>
          </a:p>
        </p:txBody>
      </p:sp>
      <p:sp>
        <p:nvSpPr>
          <p:cNvPr id="3" name="Content Placeholder 2"/>
          <p:cNvSpPr>
            <a:spLocks noGrp="1"/>
          </p:cNvSpPr>
          <p:nvPr>
            <p:ph idx="1"/>
          </p:nvPr>
        </p:nvSpPr>
        <p:spPr>
          <a:xfrm>
            <a:off x="457200" y="980728"/>
            <a:ext cx="8229600" cy="5145435"/>
          </a:xfrm>
        </p:spPr>
        <p:txBody>
          <a:bodyPr>
            <a:normAutofit fontScale="77500" lnSpcReduction="20000"/>
          </a:bodyPr>
          <a:lstStyle/>
          <a:p>
            <a:pPr marL="0" indent="0">
              <a:buNone/>
            </a:pPr>
            <a:r>
              <a:rPr lang="en-GB" b="1" dirty="0" smtClean="0"/>
              <a:t>ES Modules</a:t>
            </a:r>
          </a:p>
          <a:p>
            <a:r>
              <a:rPr lang="en-GB" dirty="0"/>
              <a:t>ES Modules (ESM) is the official standard format for packaging JavaScript code for reuse</a:t>
            </a:r>
            <a:r>
              <a:rPr lang="en-GB" dirty="0" smtClean="0"/>
              <a:t>.</a:t>
            </a:r>
          </a:p>
          <a:p>
            <a:pPr marL="0" indent="0">
              <a:buNone/>
            </a:pPr>
            <a:endParaRPr lang="en-GB" dirty="0" smtClean="0"/>
          </a:p>
          <a:p>
            <a:pPr marL="0" indent="0">
              <a:buNone/>
            </a:pPr>
            <a:r>
              <a:rPr lang="en-GB" dirty="0" smtClean="0"/>
              <a:t>Enabling </a:t>
            </a:r>
            <a:r>
              <a:rPr lang="en-GB" dirty="0"/>
              <a:t>ES Modules</a:t>
            </a:r>
          </a:p>
          <a:p>
            <a:r>
              <a:rPr lang="en-GB" dirty="0"/>
              <a:t>There are several ways to enable ES Modules in Node.js:</a:t>
            </a:r>
          </a:p>
          <a:p>
            <a:pPr marL="0" indent="0">
              <a:buNone/>
            </a:pPr>
            <a:r>
              <a:rPr lang="en-GB" dirty="0"/>
              <a:t>1. Using the .</a:t>
            </a:r>
            <a:r>
              <a:rPr lang="en-GB" dirty="0" err="1"/>
              <a:t>mjs</a:t>
            </a:r>
            <a:r>
              <a:rPr lang="en-GB" dirty="0"/>
              <a:t> File Extension</a:t>
            </a:r>
          </a:p>
          <a:p>
            <a:r>
              <a:rPr lang="en-GB" dirty="0"/>
              <a:t>The simplest way is to use the .</a:t>
            </a:r>
            <a:r>
              <a:rPr lang="en-GB" dirty="0" err="1"/>
              <a:t>mjs</a:t>
            </a:r>
            <a:r>
              <a:rPr lang="en-GB" dirty="0"/>
              <a:t> extension for your files</a:t>
            </a:r>
            <a:r>
              <a:rPr lang="en-GB" dirty="0" smtClean="0"/>
              <a:t>.</a:t>
            </a:r>
          </a:p>
          <a:p>
            <a:endParaRPr lang="en-GB" dirty="0"/>
          </a:p>
          <a:p>
            <a:pPr marL="0" indent="0">
              <a:buNone/>
            </a:pPr>
            <a:r>
              <a:rPr lang="en-GB" dirty="0" smtClean="0"/>
              <a:t>2</a:t>
            </a:r>
            <a:r>
              <a:rPr lang="en-GB" dirty="0"/>
              <a:t>. Setting "type": "module" in </a:t>
            </a:r>
            <a:r>
              <a:rPr lang="en-GB" dirty="0" err="1"/>
              <a:t>package.json</a:t>
            </a:r>
            <a:endParaRPr lang="en-GB" dirty="0"/>
          </a:p>
          <a:p>
            <a:r>
              <a:rPr lang="en-GB" dirty="0"/>
              <a:t>To use ES Modules with regular .</a:t>
            </a:r>
            <a:r>
              <a:rPr lang="en-GB" dirty="0" err="1"/>
              <a:t>js</a:t>
            </a:r>
            <a:r>
              <a:rPr lang="en-GB" dirty="0"/>
              <a:t> files, add the following to your </a:t>
            </a:r>
            <a:r>
              <a:rPr lang="en-GB" dirty="0" err="1"/>
              <a:t>package.json</a:t>
            </a:r>
            <a:r>
              <a:rPr lang="en-GB" dirty="0"/>
              <a:t>:</a:t>
            </a:r>
          </a:p>
          <a:p>
            <a:endParaRPr lang="en-IN" dirty="0"/>
          </a:p>
        </p:txBody>
      </p:sp>
    </p:spTree>
    <p:extLst>
      <p:ext uri="{BB962C8B-B14F-4D97-AF65-F5344CB8AC3E}">
        <p14:creationId xmlns:p14="http://schemas.microsoft.com/office/powerpoint/2010/main" val="2164870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NPM (Node Package Manager)</a:t>
            </a:r>
          </a:p>
        </p:txBody>
      </p:sp>
      <p:sp>
        <p:nvSpPr>
          <p:cNvPr id="3" name="Content Placeholder 2"/>
          <p:cNvSpPr>
            <a:spLocks noGrp="1"/>
          </p:cNvSpPr>
          <p:nvPr>
            <p:ph idx="1"/>
          </p:nvPr>
        </p:nvSpPr>
        <p:spPr/>
        <p:txBody>
          <a:bodyPr>
            <a:normAutofit fontScale="92500" lnSpcReduction="10000"/>
          </a:bodyPr>
          <a:lstStyle/>
          <a:p>
            <a:r>
              <a:rPr lang="en-GB" dirty="0" smtClean="0"/>
              <a:t>It is </a:t>
            </a:r>
            <a:r>
              <a:rPr lang="en-GB" dirty="0"/>
              <a:t>the default package manager for Node.js. It helps manage project dependencies, scripts, and third-party libraries, and is automatically installed </a:t>
            </a:r>
            <a:r>
              <a:rPr lang="en-GB" dirty="0" smtClean="0"/>
              <a:t>when </a:t>
            </a:r>
            <a:r>
              <a:rPr lang="en-GB" dirty="0"/>
              <a:t>you install Node.js</a:t>
            </a:r>
            <a:r>
              <a:rPr lang="en-GB" dirty="0" smtClean="0"/>
              <a:t>.</a:t>
            </a:r>
          </a:p>
          <a:p>
            <a:endParaRPr lang="en-GB" dirty="0"/>
          </a:p>
          <a:p>
            <a:pPr fontAlgn="base"/>
            <a:r>
              <a:rPr lang="en-GB" dirty="0"/>
              <a:t>It is mainly used to manage packages or modules, these are pre-built pieces of code that extend the functionality of your </a:t>
            </a:r>
            <a:r>
              <a:rPr lang="en-GB" dirty="0" err="1"/>
              <a:t>NodeJS</a:t>
            </a:r>
            <a:r>
              <a:rPr lang="en-GB" dirty="0"/>
              <a:t> application.</a:t>
            </a:r>
          </a:p>
          <a:p>
            <a:pPr fontAlgn="base"/>
            <a:r>
              <a:rPr lang="en-GB" dirty="0"/>
              <a:t>The NPM registry hosts millions of free packages that you can download and use in your project.</a:t>
            </a:r>
          </a:p>
          <a:p>
            <a:endParaRPr lang="en-IN" dirty="0"/>
          </a:p>
        </p:txBody>
      </p:sp>
    </p:spTree>
    <p:extLst>
      <p:ext uri="{BB962C8B-B14F-4D97-AF65-F5344CB8AC3E}">
        <p14:creationId xmlns:p14="http://schemas.microsoft.com/office/powerpoint/2010/main" val="8874359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fontAlgn="base"/>
            <a:r>
              <a:rPr lang="en-GB" dirty="0"/>
              <a:t>After installation, verify </a:t>
            </a:r>
            <a:r>
              <a:rPr lang="en-GB" dirty="0" err="1"/>
              <a:t>NodeJS</a:t>
            </a:r>
            <a:r>
              <a:rPr lang="en-GB" dirty="0"/>
              <a:t> and NPM are installed by running the following commands in your terminal:</a:t>
            </a:r>
          </a:p>
          <a:p>
            <a:pPr marL="0" indent="0">
              <a:buNone/>
            </a:pPr>
            <a:r>
              <a:rPr lang="en-GB" dirty="0" smtClean="0"/>
              <a:t>	</a:t>
            </a:r>
            <a:r>
              <a:rPr lang="en-GB" b="1" dirty="0" smtClean="0"/>
              <a:t>node </a:t>
            </a:r>
            <a:r>
              <a:rPr lang="en-GB" b="1" dirty="0"/>
              <a:t>-v</a:t>
            </a:r>
            <a:br>
              <a:rPr lang="en-GB" b="1" dirty="0"/>
            </a:br>
            <a:r>
              <a:rPr lang="en-GB" b="1" dirty="0" smtClean="0"/>
              <a:t>	</a:t>
            </a:r>
            <a:r>
              <a:rPr lang="en-GB" b="1" dirty="0" err="1" smtClean="0"/>
              <a:t>npm</a:t>
            </a:r>
            <a:r>
              <a:rPr lang="en-GB" b="1" dirty="0" smtClean="0"/>
              <a:t> –v</a:t>
            </a:r>
          </a:p>
          <a:p>
            <a:pPr fontAlgn="base"/>
            <a:r>
              <a:rPr lang="en-GB" dirty="0"/>
              <a:t>In the terminal, navigate to your project directory and run:</a:t>
            </a:r>
          </a:p>
          <a:p>
            <a:pPr marL="0" indent="0">
              <a:buNone/>
            </a:pPr>
            <a:r>
              <a:rPr lang="en-GB" b="1" dirty="0" smtClean="0"/>
              <a:t>	</a:t>
            </a:r>
            <a:r>
              <a:rPr lang="en-GB" b="1" dirty="0" err="1" smtClean="0"/>
              <a:t>npm</a:t>
            </a:r>
            <a:r>
              <a:rPr lang="en-GB" b="1" dirty="0" smtClean="0"/>
              <a:t> </a:t>
            </a:r>
            <a:r>
              <a:rPr lang="en-GB" b="1" dirty="0" err="1"/>
              <a:t>init</a:t>
            </a:r>
            <a:r>
              <a:rPr lang="en-GB" b="1" dirty="0"/>
              <a:t> </a:t>
            </a:r>
            <a:r>
              <a:rPr lang="en-GB" b="1" dirty="0" smtClean="0"/>
              <a:t>–y</a:t>
            </a:r>
          </a:p>
          <a:p>
            <a:pPr marL="0" indent="0">
              <a:buNone/>
            </a:pPr>
            <a:r>
              <a:rPr lang="en-GB" dirty="0"/>
              <a:t>This will create a </a:t>
            </a:r>
            <a:r>
              <a:rPr lang="en-GB" dirty="0" err="1"/>
              <a:t>package.json</a:t>
            </a:r>
            <a:r>
              <a:rPr lang="en-GB" dirty="0"/>
              <a:t> file, which stores metadata about your project, including dependencies and scripts.</a:t>
            </a:r>
            <a:endParaRPr lang="en-IN" b="1" dirty="0"/>
          </a:p>
        </p:txBody>
      </p:sp>
    </p:spTree>
    <p:extLst>
      <p:ext uri="{BB962C8B-B14F-4D97-AF65-F5344CB8AC3E}">
        <p14:creationId xmlns:p14="http://schemas.microsoft.com/office/powerpoint/2010/main" val="31699925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dirty="0"/>
              <a:t>In a </a:t>
            </a:r>
            <a:r>
              <a:rPr lang="en-GB" dirty="0" err="1"/>
              <a:t>NodeJS</a:t>
            </a:r>
            <a:r>
              <a:rPr lang="en-GB" dirty="0"/>
              <a:t> project, dependencies are stored in a </a:t>
            </a:r>
            <a:r>
              <a:rPr lang="en-GB" dirty="0" err="1"/>
              <a:t>package.json</a:t>
            </a:r>
            <a:r>
              <a:rPr lang="en-GB" dirty="0"/>
              <a:t> file. To install all dependencies listed in the file, run:</a:t>
            </a:r>
          </a:p>
          <a:p>
            <a:pPr marL="0" indent="0">
              <a:buNone/>
            </a:pPr>
            <a:r>
              <a:rPr lang="en-GB" dirty="0" smtClean="0"/>
              <a:t>                </a:t>
            </a:r>
            <a:r>
              <a:rPr lang="en-GB" dirty="0" err="1" smtClean="0"/>
              <a:t>npm</a:t>
            </a:r>
            <a:r>
              <a:rPr lang="en-GB" dirty="0" smtClean="0"/>
              <a:t> install</a:t>
            </a:r>
          </a:p>
          <a:p>
            <a:pPr marL="0" indent="0">
              <a:buNone/>
            </a:pPr>
            <a:endParaRPr lang="en-GB" dirty="0"/>
          </a:p>
          <a:p>
            <a:pPr marL="0" indent="0">
              <a:buNone/>
            </a:pPr>
            <a:r>
              <a:rPr lang="en-GB" dirty="0" smtClean="0"/>
              <a:t>	</a:t>
            </a:r>
            <a:r>
              <a:rPr lang="en-IN" dirty="0" err="1"/>
              <a:t>npm</a:t>
            </a:r>
            <a:r>
              <a:rPr lang="en-IN" dirty="0"/>
              <a:t> install &lt;package-name&gt;</a:t>
            </a:r>
          </a:p>
        </p:txBody>
      </p:sp>
    </p:spTree>
    <p:extLst>
      <p:ext uri="{BB962C8B-B14F-4D97-AF65-F5344CB8AC3E}">
        <p14:creationId xmlns:p14="http://schemas.microsoft.com/office/powerpoint/2010/main" val="11209081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fontAlgn="base"/>
            <a:r>
              <a:rPr lang="en-GB" dirty="0" err="1"/>
              <a:t>package.json</a:t>
            </a:r>
            <a:r>
              <a:rPr lang="en-GB" dirty="0"/>
              <a:t> is the central configuration file in a Node.js project that defines how the application is built, run, and managed.</a:t>
            </a:r>
          </a:p>
          <a:p>
            <a:pPr fontAlgn="base"/>
            <a:r>
              <a:rPr lang="en-GB" dirty="0"/>
              <a:t>Stores essential project information and configuration settings.</a:t>
            </a:r>
          </a:p>
          <a:p>
            <a:pPr fontAlgn="base"/>
            <a:r>
              <a:rPr lang="en-GB" dirty="0"/>
              <a:t>Manages application dependencies and development tools.</a:t>
            </a:r>
          </a:p>
          <a:p>
            <a:pPr fontAlgn="base"/>
            <a:r>
              <a:rPr lang="en-GB" dirty="0"/>
              <a:t>Defines executable scripts for tasks like start, build, and test.</a:t>
            </a:r>
          </a:p>
          <a:p>
            <a:pPr fontAlgn="base"/>
            <a:r>
              <a:rPr lang="en-GB" dirty="0"/>
              <a:t>Specifies the application entry point and runtime </a:t>
            </a:r>
            <a:r>
              <a:rPr lang="en-GB" dirty="0" err="1"/>
              <a:t>behavior</a:t>
            </a:r>
            <a:r>
              <a:rPr lang="en-GB" dirty="0"/>
              <a:t>.</a:t>
            </a:r>
          </a:p>
          <a:p>
            <a:pPr fontAlgn="base"/>
            <a:r>
              <a:rPr lang="en-GB" dirty="0"/>
              <a:t>Helps ensure consistent project setup across environments.</a:t>
            </a:r>
          </a:p>
          <a:p>
            <a:endParaRPr lang="en-IN" dirty="0"/>
          </a:p>
        </p:txBody>
      </p:sp>
    </p:spTree>
    <p:extLst>
      <p:ext uri="{BB962C8B-B14F-4D97-AF65-F5344CB8AC3E}">
        <p14:creationId xmlns:p14="http://schemas.microsoft.com/office/powerpoint/2010/main" val="10629896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fontAlgn="base"/>
            <a:r>
              <a:rPr lang="en-GB" b="1" dirty="0"/>
              <a:t>Metadata and Functional Properties of </a:t>
            </a:r>
            <a:r>
              <a:rPr lang="en-GB" b="1" dirty="0" err="1"/>
              <a:t>package.json</a:t>
            </a:r>
            <a:endParaRPr lang="en-GB" b="1" dirty="0"/>
          </a:p>
          <a:p>
            <a:pPr fontAlgn="base"/>
            <a:r>
              <a:rPr lang="en-GB" dirty="0"/>
              <a:t>The </a:t>
            </a:r>
            <a:r>
              <a:rPr lang="en-GB" dirty="0" err="1"/>
              <a:t>package.json</a:t>
            </a:r>
            <a:r>
              <a:rPr lang="en-GB" dirty="0"/>
              <a:t> file manages configuration and metadata for a Node.js project.</a:t>
            </a:r>
          </a:p>
          <a:p>
            <a:pPr fontAlgn="base"/>
            <a:r>
              <a:rPr lang="en-GB" dirty="0"/>
              <a:t>Project identification details such as name, version, author, license, and description..</a:t>
            </a:r>
          </a:p>
          <a:p>
            <a:pPr fontAlgn="base"/>
            <a:r>
              <a:rPr lang="en-GB" dirty="0"/>
              <a:t>Application entry point and runtime configuration.</a:t>
            </a:r>
          </a:p>
          <a:p>
            <a:pPr fontAlgn="base"/>
            <a:r>
              <a:rPr lang="en-GB" dirty="0"/>
              <a:t>Project dependencies and development dependencies.</a:t>
            </a:r>
          </a:p>
          <a:p>
            <a:pPr fontAlgn="base"/>
            <a:r>
              <a:rPr lang="en-GB" dirty="0"/>
              <a:t>Scripts for running and managing the application.</a:t>
            </a:r>
          </a:p>
          <a:p>
            <a:pPr fontAlgn="base"/>
            <a:r>
              <a:rPr lang="en-GB" dirty="0"/>
              <a:t>Repository and related project information.</a:t>
            </a:r>
          </a:p>
          <a:p>
            <a:endParaRPr lang="en-IN" dirty="0"/>
          </a:p>
        </p:txBody>
      </p:sp>
    </p:spTree>
    <p:extLst>
      <p:ext uri="{BB962C8B-B14F-4D97-AF65-F5344CB8AC3E}">
        <p14:creationId xmlns:p14="http://schemas.microsoft.com/office/powerpoint/2010/main" val="4501498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fontAlgn="base"/>
            <a:r>
              <a:rPr lang="en-GB" b="1" dirty="0"/>
              <a:t>package-</a:t>
            </a:r>
            <a:r>
              <a:rPr lang="en-GB" b="1" dirty="0" err="1"/>
              <a:t>lock.json</a:t>
            </a:r>
            <a:r>
              <a:rPr lang="en-GB" dirty="0"/>
              <a:t> is a file that is generated when we try to install the node. It is </a:t>
            </a:r>
            <a:r>
              <a:rPr lang="en-GB" b="1" dirty="0"/>
              <a:t>generated by the Node Package</a:t>
            </a:r>
            <a:r>
              <a:rPr lang="en-GB" dirty="0"/>
              <a:t> </a:t>
            </a:r>
            <a:r>
              <a:rPr lang="en-GB" b="1" dirty="0"/>
              <a:t>Manager(</a:t>
            </a:r>
            <a:r>
              <a:rPr lang="en-GB" b="1" dirty="0" err="1"/>
              <a:t>npm</a:t>
            </a:r>
            <a:r>
              <a:rPr lang="en-GB" b="1" dirty="0"/>
              <a:t>)</a:t>
            </a:r>
            <a:r>
              <a:rPr lang="en-GB" dirty="0"/>
              <a:t>. package-</a:t>
            </a:r>
            <a:r>
              <a:rPr lang="en-GB" dirty="0" err="1"/>
              <a:t>lock.json</a:t>
            </a:r>
            <a:r>
              <a:rPr lang="en-GB" dirty="0"/>
              <a:t> will ensure that the </a:t>
            </a:r>
            <a:r>
              <a:rPr lang="en-GB" b="1" dirty="0"/>
              <a:t>same versions of packages are installed</a:t>
            </a:r>
            <a:r>
              <a:rPr lang="en-GB" dirty="0"/>
              <a:t>.</a:t>
            </a:r>
          </a:p>
          <a:p>
            <a:pPr fontAlgn="base"/>
            <a:r>
              <a:rPr lang="en-GB" dirty="0"/>
              <a:t>It contains the name, dependencies, and locked version of the project. I</a:t>
            </a:r>
            <a:r>
              <a:rPr lang="en-GB" b="1" dirty="0"/>
              <a:t>t will check that same versions are installed for </a:t>
            </a:r>
            <a:r>
              <a:rPr lang="en-GB" dirty="0"/>
              <a:t>the </a:t>
            </a:r>
            <a:r>
              <a:rPr lang="en-GB" b="1" dirty="0"/>
              <a:t>different users so that errors can be prevented (Dependency locking)</a:t>
            </a:r>
            <a:r>
              <a:rPr lang="en-GB" dirty="0"/>
              <a:t>.</a:t>
            </a:r>
          </a:p>
          <a:p>
            <a:endParaRPr lang="en-IN" dirty="0"/>
          </a:p>
        </p:txBody>
      </p:sp>
    </p:spTree>
    <p:extLst>
      <p:ext uri="{BB962C8B-B14F-4D97-AF65-F5344CB8AC3E}">
        <p14:creationId xmlns:p14="http://schemas.microsoft.com/office/powerpoint/2010/main" val="27222764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The common method of starting a package is </a:t>
            </a:r>
            <a:r>
              <a:rPr lang="en-GB" dirty="0" err="1"/>
              <a:t>npm</a:t>
            </a:r>
            <a:r>
              <a:rPr lang="en-GB" dirty="0"/>
              <a:t> init. After doing this, a </a:t>
            </a:r>
            <a:r>
              <a:rPr lang="en-GB" dirty="0" err="1"/>
              <a:t>package.json</a:t>
            </a:r>
            <a:r>
              <a:rPr lang="en-GB" dirty="0"/>
              <a:t> file is created. But when we install a express, we can notice the package-</a:t>
            </a:r>
            <a:r>
              <a:rPr lang="en-GB" dirty="0" err="1"/>
              <a:t>lock.json</a:t>
            </a:r>
            <a:r>
              <a:rPr lang="en-GB" dirty="0"/>
              <a:t> file (usually very long) gets automatically created.</a:t>
            </a:r>
            <a:endParaRPr lang="en-IN" dirty="0"/>
          </a:p>
        </p:txBody>
      </p:sp>
    </p:spTree>
    <p:extLst>
      <p:ext uri="{BB962C8B-B14F-4D97-AF65-F5344CB8AC3E}">
        <p14:creationId xmlns:p14="http://schemas.microsoft.com/office/powerpoint/2010/main" val="15555178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fs Module</a:t>
            </a:r>
            <a:endParaRPr lang="en-IN" dirty="0"/>
          </a:p>
        </p:txBody>
      </p:sp>
      <p:sp>
        <p:nvSpPr>
          <p:cNvPr id="3" name="Content Placeholder 2"/>
          <p:cNvSpPr>
            <a:spLocks noGrp="1"/>
          </p:cNvSpPr>
          <p:nvPr>
            <p:ph idx="1"/>
          </p:nvPr>
        </p:nvSpPr>
        <p:spPr/>
        <p:txBody>
          <a:bodyPr/>
          <a:lstStyle/>
          <a:p>
            <a:r>
              <a:rPr lang="en-GB" b="1" dirty="0"/>
              <a:t>The fs module in Node.js provides an interface for working </a:t>
            </a:r>
            <a:r>
              <a:rPr lang="en-GB" dirty="0"/>
              <a:t>with the file system. It allows you to perform various operations such as reading from and writing to files, manipulating directories, and handling file permissions.</a:t>
            </a:r>
            <a:endParaRPr lang="en-IN" dirty="0"/>
          </a:p>
        </p:txBody>
      </p:sp>
    </p:spTree>
    <p:extLst>
      <p:ext uri="{BB962C8B-B14F-4D97-AF65-F5344CB8AC3E}">
        <p14:creationId xmlns:p14="http://schemas.microsoft.com/office/powerpoint/2010/main" val="2274567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b="1" dirty="0" smtClean="0"/>
              <a:t>How </a:t>
            </a:r>
            <a:r>
              <a:rPr lang="en-GB" b="1" dirty="0"/>
              <a:t>to Use the fs Module?</a:t>
            </a:r>
          </a:p>
          <a:p>
            <a:pPr fontAlgn="base"/>
            <a:r>
              <a:rPr lang="en-GB" dirty="0"/>
              <a:t>The fs module provides a wide range of functions for working with files and directories. Some of the most commonly used functions include:</a:t>
            </a:r>
          </a:p>
          <a:p>
            <a:pPr fontAlgn="base"/>
            <a:r>
              <a:rPr lang="en-GB" dirty="0"/>
              <a:t>To use the fs module in your Node.js application, you need to import it first</a:t>
            </a:r>
          </a:p>
          <a:p>
            <a:pPr marL="0" indent="0">
              <a:buNone/>
            </a:pPr>
            <a:r>
              <a:rPr lang="en-GB" dirty="0" err="1"/>
              <a:t>const</a:t>
            </a:r>
            <a:r>
              <a:rPr lang="en-GB" dirty="0"/>
              <a:t> fs = require('fs');</a:t>
            </a:r>
            <a:endParaRPr lang="en-IN" dirty="0"/>
          </a:p>
        </p:txBody>
      </p:sp>
    </p:spTree>
    <p:extLst>
      <p:ext uri="{BB962C8B-B14F-4D97-AF65-F5344CB8AC3E}">
        <p14:creationId xmlns:p14="http://schemas.microsoft.com/office/powerpoint/2010/main" val="35947684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GB" dirty="0" smtClean="0"/>
              <a:t>The</a:t>
            </a:r>
            <a:r>
              <a:rPr lang="en-GB" dirty="0"/>
              <a:t> </a:t>
            </a:r>
            <a:r>
              <a:rPr lang="en-GB" dirty="0" err="1"/>
              <a:t>fs.readFileSync</a:t>
            </a:r>
            <a:r>
              <a:rPr lang="en-GB" dirty="0"/>
              <a:t>() method reads the contents of a file synchronously. It blocks the execution until the file is read.</a:t>
            </a:r>
            <a:endParaRPr lang="en-IN" dirty="0" smtClean="0"/>
          </a:p>
          <a:p>
            <a:endParaRPr lang="en-IN" dirty="0"/>
          </a:p>
          <a:p>
            <a:r>
              <a:rPr lang="en-IN" dirty="0" smtClean="0"/>
              <a:t>try </a:t>
            </a:r>
            <a:r>
              <a:rPr lang="en-IN" dirty="0"/>
              <a:t>{</a:t>
            </a:r>
            <a:br>
              <a:rPr lang="en-IN" dirty="0"/>
            </a:br>
            <a:r>
              <a:rPr lang="en-IN" dirty="0" err="1"/>
              <a:t>const</a:t>
            </a:r>
            <a:r>
              <a:rPr lang="en-IN" dirty="0"/>
              <a:t> data = </a:t>
            </a:r>
            <a:r>
              <a:rPr lang="en-IN" dirty="0" err="1"/>
              <a:t>fs.readFileSync</a:t>
            </a:r>
            <a:r>
              <a:rPr lang="en-IN" dirty="0"/>
              <a:t>('example.txt', 'utf8');</a:t>
            </a:r>
            <a:br>
              <a:rPr lang="en-IN" dirty="0"/>
            </a:br>
            <a:r>
              <a:rPr lang="en-IN" dirty="0"/>
              <a:t>console.log('File content:', data);</a:t>
            </a:r>
            <a:br>
              <a:rPr lang="en-IN" dirty="0"/>
            </a:br>
            <a:r>
              <a:rPr lang="en-IN" dirty="0"/>
              <a:t>} catch (err) {</a:t>
            </a:r>
            <a:br>
              <a:rPr lang="en-IN" dirty="0"/>
            </a:br>
            <a:r>
              <a:rPr lang="en-IN" dirty="0" err="1"/>
              <a:t>console.error</a:t>
            </a:r>
            <a:r>
              <a:rPr lang="en-IN" dirty="0"/>
              <a:t>('Error reading file:', err);</a:t>
            </a:r>
            <a:br>
              <a:rPr lang="en-IN" dirty="0"/>
            </a:br>
            <a:r>
              <a:rPr lang="en-IN" dirty="0"/>
              <a:t>}</a:t>
            </a:r>
          </a:p>
        </p:txBody>
      </p:sp>
    </p:spTree>
    <p:extLst>
      <p:ext uri="{BB962C8B-B14F-4D97-AF65-F5344CB8AC3E}">
        <p14:creationId xmlns:p14="http://schemas.microsoft.com/office/powerpoint/2010/main" val="14732794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fontAlgn="base"/>
            <a:r>
              <a:rPr lang="en-IN" dirty="0"/>
              <a:t>The </a:t>
            </a:r>
            <a:r>
              <a:rPr lang="en-IN" dirty="0" err="1"/>
              <a:t>fs.readFile</a:t>
            </a:r>
            <a:r>
              <a:rPr lang="en-IN" dirty="0"/>
              <a:t>() method reads the contents of a file asynchronously. It takes the file path, encoding (optional), and a </a:t>
            </a:r>
            <a:r>
              <a:rPr lang="en-IN" dirty="0" err="1"/>
              <a:t>callback</a:t>
            </a:r>
            <a:r>
              <a:rPr lang="en-IN" dirty="0"/>
              <a:t> function as arguments.</a:t>
            </a:r>
          </a:p>
          <a:p>
            <a:r>
              <a:rPr lang="en-IN" dirty="0" err="1"/>
              <a:t>fs.readFile</a:t>
            </a:r>
            <a:r>
              <a:rPr lang="en-IN" dirty="0"/>
              <a:t>('example.txt', 'utf8', (err, data) =&gt; </a:t>
            </a:r>
            <a:endParaRPr lang="en-IN" dirty="0" smtClean="0"/>
          </a:p>
          <a:p>
            <a:pPr marL="0" indent="0">
              <a:buNone/>
            </a:pPr>
            <a:r>
              <a:rPr lang="en-IN" dirty="0"/>
              <a:t>	</a:t>
            </a:r>
            <a:r>
              <a:rPr lang="en-IN" dirty="0" smtClean="0"/>
              <a:t>{</a:t>
            </a:r>
            <a:r>
              <a:rPr lang="en-IN" dirty="0"/>
              <a:t/>
            </a:r>
            <a:br>
              <a:rPr lang="en-IN" dirty="0"/>
            </a:br>
            <a:r>
              <a:rPr lang="en-IN" dirty="0" smtClean="0"/>
              <a:t>		if </a:t>
            </a:r>
            <a:r>
              <a:rPr lang="en-IN" dirty="0"/>
              <a:t>(err) {</a:t>
            </a:r>
            <a:br>
              <a:rPr lang="en-IN" dirty="0"/>
            </a:br>
            <a:r>
              <a:rPr lang="en-IN" dirty="0" smtClean="0"/>
              <a:t>		</a:t>
            </a:r>
            <a:r>
              <a:rPr lang="en-IN" dirty="0" err="1" smtClean="0"/>
              <a:t>console.error</a:t>
            </a:r>
            <a:r>
              <a:rPr lang="en-IN" dirty="0"/>
              <a:t>('Error reading file:', err);</a:t>
            </a:r>
            <a:br>
              <a:rPr lang="en-IN" dirty="0"/>
            </a:br>
            <a:r>
              <a:rPr lang="en-IN" dirty="0" smtClean="0"/>
              <a:t>		return</a:t>
            </a:r>
            <a:r>
              <a:rPr lang="en-IN" dirty="0"/>
              <a:t>;</a:t>
            </a:r>
            <a:br>
              <a:rPr lang="en-IN" dirty="0"/>
            </a:br>
            <a:r>
              <a:rPr lang="en-IN" dirty="0" smtClean="0"/>
              <a:t>	}</a:t>
            </a:r>
            <a:r>
              <a:rPr lang="en-IN" dirty="0"/>
              <a:t/>
            </a:r>
            <a:br>
              <a:rPr lang="en-IN" dirty="0"/>
            </a:br>
            <a:r>
              <a:rPr lang="en-IN" dirty="0" smtClean="0"/>
              <a:t>		console.log</a:t>
            </a:r>
            <a:r>
              <a:rPr lang="en-IN" dirty="0"/>
              <a:t>('File content:', data);</a:t>
            </a:r>
            <a:br>
              <a:rPr lang="en-IN" dirty="0"/>
            </a:br>
            <a:r>
              <a:rPr lang="en-IN" dirty="0" smtClean="0"/>
              <a:t>	});</a:t>
            </a:r>
            <a:endParaRPr lang="en-IN" dirty="0"/>
          </a:p>
        </p:txBody>
      </p:sp>
    </p:spTree>
    <p:extLst>
      <p:ext uri="{BB962C8B-B14F-4D97-AF65-F5344CB8AC3E}">
        <p14:creationId xmlns:p14="http://schemas.microsoft.com/office/powerpoint/2010/main" val="3068091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smtClean="0"/>
              <a:t>fs.readFile</a:t>
            </a:r>
            <a:r>
              <a:rPr lang="en-GB" b="1" dirty="0"/>
              <a:t>()</a:t>
            </a:r>
            <a:endParaRPr lang="en-IN" dirty="0"/>
          </a:p>
        </p:txBody>
      </p:sp>
      <p:sp>
        <p:nvSpPr>
          <p:cNvPr id="3" name="Content Placeholder 2"/>
          <p:cNvSpPr>
            <a:spLocks noGrp="1"/>
          </p:cNvSpPr>
          <p:nvPr>
            <p:ph idx="1"/>
          </p:nvPr>
        </p:nvSpPr>
        <p:spPr/>
        <p:txBody>
          <a:bodyPr>
            <a:normAutofit fontScale="55000" lnSpcReduction="20000"/>
          </a:bodyPr>
          <a:lstStyle/>
          <a:p>
            <a:pPr fontAlgn="base"/>
            <a:r>
              <a:rPr lang="en-GB" dirty="0"/>
              <a:t>​In Node.js, </a:t>
            </a:r>
            <a:r>
              <a:rPr lang="en-GB" b="1" dirty="0" smtClean="0"/>
              <a:t>method</a:t>
            </a:r>
            <a:r>
              <a:rPr lang="en-GB" b="1" dirty="0"/>
              <a:t> </a:t>
            </a:r>
            <a:r>
              <a:rPr lang="en-GB" dirty="0"/>
              <a:t>is a fundamental tool for reading files asynchronously, allowing your application to remain responsive while accessing file data. This method is part of </a:t>
            </a:r>
            <a:r>
              <a:rPr lang="en-GB" b="1" dirty="0" err="1"/>
              <a:t>Node.js's</a:t>
            </a:r>
            <a:r>
              <a:rPr lang="en-GB" b="1" dirty="0"/>
              <a:t> File System (fs) module,</a:t>
            </a:r>
            <a:r>
              <a:rPr lang="en-GB" dirty="0"/>
              <a:t> which provides an API for interacting with the file system.</a:t>
            </a:r>
          </a:p>
          <a:p>
            <a:pPr marL="0" indent="0" fontAlgn="base">
              <a:buNone/>
            </a:pPr>
            <a:r>
              <a:rPr lang="en-GB" b="1" dirty="0" smtClean="0"/>
              <a:t>         Syntax</a:t>
            </a:r>
          </a:p>
          <a:p>
            <a:pPr marL="0" indent="0" fontAlgn="base">
              <a:buNone/>
            </a:pPr>
            <a:endParaRPr lang="en-GB" b="1" dirty="0"/>
          </a:p>
          <a:p>
            <a:pPr fontAlgn="base"/>
            <a:r>
              <a:rPr lang="en-GB" dirty="0" err="1"/>
              <a:t>fs.readFile</a:t>
            </a:r>
            <a:r>
              <a:rPr lang="en-GB" dirty="0"/>
              <a:t>(path, options, </a:t>
            </a:r>
            <a:r>
              <a:rPr lang="en-GB" dirty="0" err="1"/>
              <a:t>callback</a:t>
            </a:r>
            <a:r>
              <a:rPr lang="en-GB" dirty="0" smtClean="0"/>
              <a:t>);</a:t>
            </a:r>
          </a:p>
          <a:p>
            <a:pPr marL="0" indent="0" fontAlgn="base">
              <a:buNone/>
            </a:pPr>
            <a:r>
              <a:rPr lang="en-GB" b="1" dirty="0" smtClean="0"/>
              <a:t>Parameters</a:t>
            </a:r>
            <a:endParaRPr lang="en-GB" b="1" dirty="0"/>
          </a:p>
          <a:p>
            <a:pPr marL="0" indent="0" fontAlgn="base">
              <a:buNone/>
            </a:pPr>
            <a:r>
              <a:rPr lang="en-GB" dirty="0"/>
              <a:t>The method accepts three parameters as mentioned above and described below:  </a:t>
            </a:r>
          </a:p>
          <a:p>
            <a:pPr fontAlgn="base"/>
            <a:r>
              <a:rPr lang="en-GB" b="1" dirty="0"/>
              <a:t>path: The path to the file to be read. This can be a relative or absolute path.​</a:t>
            </a:r>
            <a:endParaRPr lang="en-GB" dirty="0"/>
          </a:p>
          <a:p>
            <a:pPr fontAlgn="base"/>
            <a:r>
              <a:rPr lang="en-GB" b="1" dirty="0"/>
              <a:t>options:</a:t>
            </a:r>
            <a:r>
              <a:rPr lang="en-GB" dirty="0"/>
              <a:t> An optional object or string that specifies the encoding, file mode, and flag. If not provided, the default encoding is 'utf8'.​</a:t>
            </a:r>
          </a:p>
          <a:p>
            <a:pPr fontAlgn="base"/>
            <a:r>
              <a:rPr lang="en-GB" b="1" dirty="0" err="1"/>
              <a:t>callback</a:t>
            </a:r>
            <a:r>
              <a:rPr lang="en-GB" dirty="0"/>
              <a:t>: A function that is called after the file has been read. It takes two arguments:​</a:t>
            </a:r>
          </a:p>
          <a:p>
            <a:pPr lvl="1" fontAlgn="base"/>
            <a:r>
              <a:rPr lang="en-GB" b="1" dirty="0"/>
              <a:t>err: </a:t>
            </a:r>
            <a:r>
              <a:rPr lang="en-GB" dirty="0"/>
              <a:t>An error object if an error occurred, or null if no error.​</a:t>
            </a:r>
          </a:p>
          <a:p>
            <a:pPr lvl="1" fontAlgn="base"/>
            <a:r>
              <a:rPr lang="en-GB" b="1" dirty="0"/>
              <a:t>data:</a:t>
            </a:r>
            <a:r>
              <a:rPr lang="en-GB" dirty="0"/>
              <a:t> The contents of the file. If no encoding is specified, this will be a Buffer object; otherwise, it will be a string</a:t>
            </a:r>
          </a:p>
          <a:p>
            <a:endParaRPr lang="en-IN" dirty="0"/>
          </a:p>
        </p:txBody>
      </p:sp>
    </p:spTree>
    <p:extLst>
      <p:ext uri="{BB962C8B-B14F-4D97-AF65-F5344CB8AC3E}">
        <p14:creationId xmlns:p14="http://schemas.microsoft.com/office/powerpoint/2010/main" val="24002902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GB" b="1" dirty="0" err="1"/>
              <a:t>fs.readdir</a:t>
            </a:r>
            <a:r>
              <a:rPr lang="en-GB" b="1" dirty="0"/>
              <a:t>() </a:t>
            </a:r>
            <a:endParaRPr lang="en-IN" dirty="0"/>
          </a:p>
        </p:txBody>
      </p:sp>
      <p:sp>
        <p:nvSpPr>
          <p:cNvPr id="3" name="Content Placeholder 2"/>
          <p:cNvSpPr>
            <a:spLocks noGrp="1"/>
          </p:cNvSpPr>
          <p:nvPr>
            <p:ph idx="1"/>
          </p:nvPr>
        </p:nvSpPr>
        <p:spPr/>
        <p:txBody>
          <a:bodyPr>
            <a:normAutofit fontScale="55000" lnSpcReduction="20000"/>
          </a:bodyPr>
          <a:lstStyle/>
          <a:p>
            <a:pPr fontAlgn="base"/>
            <a:r>
              <a:rPr lang="en-GB" dirty="0"/>
              <a:t>The </a:t>
            </a:r>
            <a:r>
              <a:rPr lang="en-GB" b="1" dirty="0" err="1"/>
              <a:t>fs.readdir</a:t>
            </a:r>
            <a:r>
              <a:rPr lang="en-GB" b="1" dirty="0"/>
              <a:t>() method</a:t>
            </a:r>
            <a:r>
              <a:rPr lang="en-GB" dirty="0"/>
              <a:t> is used to asynchronously read the contents of a given directory. The </a:t>
            </a:r>
            <a:r>
              <a:rPr lang="en-GB" dirty="0" err="1"/>
              <a:t>callback</a:t>
            </a:r>
            <a:r>
              <a:rPr lang="en-GB" dirty="0"/>
              <a:t> of this method returns an array of all the file names in the directory. The options argument can be used to change the format in which the files are returned from the method</a:t>
            </a:r>
            <a:r>
              <a:rPr lang="en-GB" dirty="0" smtClean="0"/>
              <a:t>.</a:t>
            </a:r>
          </a:p>
          <a:p>
            <a:pPr fontAlgn="base"/>
            <a:endParaRPr lang="en-GB" dirty="0" smtClean="0"/>
          </a:p>
          <a:p>
            <a:pPr fontAlgn="base"/>
            <a:endParaRPr lang="en-GB" dirty="0"/>
          </a:p>
          <a:p>
            <a:pPr marL="0" indent="0" fontAlgn="base">
              <a:buNone/>
            </a:pPr>
            <a:r>
              <a:rPr lang="en-GB" b="1" dirty="0"/>
              <a:t>Syntax:</a:t>
            </a:r>
            <a:endParaRPr lang="en-GB" dirty="0"/>
          </a:p>
          <a:p>
            <a:pPr fontAlgn="base"/>
            <a:r>
              <a:rPr lang="en-GB" dirty="0" err="1"/>
              <a:t>fs.readdir</a:t>
            </a:r>
            <a:r>
              <a:rPr lang="en-GB" dirty="0"/>
              <a:t>( path, options, </a:t>
            </a:r>
            <a:r>
              <a:rPr lang="en-GB" dirty="0" err="1"/>
              <a:t>callback</a:t>
            </a:r>
            <a:r>
              <a:rPr lang="en-GB" dirty="0"/>
              <a:t> </a:t>
            </a:r>
            <a:r>
              <a:rPr lang="en-GB" dirty="0" smtClean="0"/>
              <a:t>)</a:t>
            </a:r>
          </a:p>
          <a:p>
            <a:pPr marL="0" indent="0" fontAlgn="base">
              <a:buNone/>
            </a:pPr>
            <a:r>
              <a:rPr lang="en-GB" b="1" dirty="0" smtClean="0"/>
              <a:t>Parameters</a:t>
            </a:r>
            <a:r>
              <a:rPr lang="en-GB" b="1" dirty="0"/>
              <a:t>:</a:t>
            </a:r>
            <a:endParaRPr lang="en-GB" dirty="0"/>
          </a:p>
          <a:p>
            <a:pPr fontAlgn="base"/>
            <a:r>
              <a:rPr lang="en-GB" dirty="0"/>
              <a:t>This method accept three parameters as mentioned above and described below:</a:t>
            </a:r>
          </a:p>
          <a:p>
            <a:pPr fontAlgn="base"/>
            <a:r>
              <a:rPr lang="en-GB" b="1" dirty="0"/>
              <a:t>path:</a:t>
            </a:r>
            <a:r>
              <a:rPr lang="en-GB" dirty="0"/>
              <a:t> It holds the path of the directory from where the contents have to be read. It can be a String, Buffer or URL.</a:t>
            </a:r>
          </a:p>
          <a:p>
            <a:pPr fontAlgn="base"/>
            <a:r>
              <a:rPr lang="en-GB" b="1" dirty="0" err="1" smtClean="0"/>
              <a:t>callback</a:t>
            </a:r>
            <a:r>
              <a:rPr lang="en-GB" b="1" dirty="0"/>
              <a:t>:</a:t>
            </a:r>
            <a:r>
              <a:rPr lang="en-GB" dirty="0"/>
              <a:t> It is the function that would be called when the method is executed.</a:t>
            </a:r>
          </a:p>
          <a:p>
            <a:pPr lvl="1" fontAlgn="base"/>
            <a:r>
              <a:rPr lang="en-GB" b="1" dirty="0"/>
              <a:t>err:</a:t>
            </a:r>
            <a:r>
              <a:rPr lang="en-GB" dirty="0"/>
              <a:t> It is an error that would be thrown if the operation fails.</a:t>
            </a:r>
          </a:p>
          <a:p>
            <a:pPr lvl="1" fontAlgn="base"/>
            <a:r>
              <a:rPr lang="en-GB" b="1" dirty="0"/>
              <a:t>files:</a:t>
            </a:r>
            <a:r>
              <a:rPr lang="en-GB" dirty="0"/>
              <a:t> It is an array of String, Buffer or </a:t>
            </a:r>
            <a:r>
              <a:rPr lang="en-GB" dirty="0" err="1"/>
              <a:t>fs.Dirent</a:t>
            </a:r>
            <a:r>
              <a:rPr lang="en-GB" dirty="0"/>
              <a:t> objects that contain the files in the directory.</a:t>
            </a:r>
          </a:p>
          <a:p>
            <a:endParaRPr lang="en-IN" dirty="0"/>
          </a:p>
        </p:txBody>
      </p:sp>
    </p:spTree>
    <p:extLst>
      <p:ext uri="{BB962C8B-B14F-4D97-AF65-F5344CB8AC3E}">
        <p14:creationId xmlns:p14="http://schemas.microsoft.com/office/powerpoint/2010/main" val="6366293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GB" b="1" dirty="0"/>
              <a:t>options:</a:t>
            </a:r>
            <a:r>
              <a:rPr lang="en-GB" dirty="0"/>
              <a:t> It is an object that can be used to specify optional parameters that will affect the method. It has two optional parameters:</a:t>
            </a:r>
          </a:p>
          <a:p>
            <a:pPr lvl="1" fontAlgn="base"/>
            <a:r>
              <a:rPr lang="en-GB" b="1" dirty="0"/>
              <a:t>encoding:</a:t>
            </a:r>
            <a:r>
              <a:rPr lang="en-GB" dirty="0"/>
              <a:t> It is a string value which specifies which encoding would be used for the filenames given to the </a:t>
            </a:r>
            <a:r>
              <a:rPr lang="en-GB" dirty="0" err="1"/>
              <a:t>callback</a:t>
            </a:r>
            <a:r>
              <a:rPr lang="en-GB" dirty="0"/>
              <a:t> argument. The default value is 'utf8'.</a:t>
            </a:r>
          </a:p>
          <a:p>
            <a:pPr lvl="1" fontAlgn="base"/>
            <a:r>
              <a:rPr lang="en-GB" b="1" dirty="0" err="1"/>
              <a:t>withFileTypes</a:t>
            </a:r>
            <a:r>
              <a:rPr lang="en-GB" b="1" dirty="0"/>
              <a:t>:</a:t>
            </a:r>
            <a:r>
              <a:rPr lang="en-GB" dirty="0"/>
              <a:t> It is a </a:t>
            </a:r>
            <a:r>
              <a:rPr lang="en-GB" dirty="0" err="1"/>
              <a:t>boolean</a:t>
            </a:r>
            <a:r>
              <a:rPr lang="en-GB" dirty="0"/>
              <a:t> value which specifies whether the files would be returned as </a:t>
            </a:r>
            <a:r>
              <a:rPr lang="en-GB" dirty="0" err="1"/>
              <a:t>fs.Dirent</a:t>
            </a:r>
            <a:r>
              <a:rPr lang="en-GB" dirty="0"/>
              <a:t> objects. The default value is 'false'.</a:t>
            </a:r>
          </a:p>
          <a:p>
            <a:endParaRPr lang="en-IN" dirty="0"/>
          </a:p>
        </p:txBody>
      </p:sp>
    </p:spTree>
    <p:extLst>
      <p:ext uri="{BB962C8B-B14F-4D97-AF65-F5344CB8AC3E}">
        <p14:creationId xmlns:p14="http://schemas.microsoft.com/office/powerpoint/2010/main" val="42828028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GB" dirty="0"/>
              <a:t>The fs module provides a wide range of functions for working with files and directories. Some of the most commonly used functions include:</a:t>
            </a:r>
          </a:p>
          <a:p>
            <a:pPr fontAlgn="base"/>
            <a:r>
              <a:rPr lang="en-GB" b="1" u="sng" dirty="0" err="1">
                <a:hlinkClick r:id="rId2"/>
              </a:rPr>
              <a:t>fs.readFile</a:t>
            </a:r>
            <a:r>
              <a:rPr lang="en-GB" b="1" u="sng" dirty="0">
                <a:hlinkClick r:id="rId2"/>
              </a:rPr>
              <a:t>():</a:t>
            </a:r>
            <a:r>
              <a:rPr lang="en-GB" dirty="0"/>
              <a:t> Reads the contents of a file asynchronously.</a:t>
            </a:r>
          </a:p>
          <a:p>
            <a:pPr fontAlgn="base"/>
            <a:r>
              <a:rPr lang="en-GB" b="1" u="sng" dirty="0" err="1">
                <a:hlinkClick r:id="rId3"/>
              </a:rPr>
              <a:t>fs.writeFile</a:t>
            </a:r>
            <a:r>
              <a:rPr lang="en-GB" b="1" u="sng" dirty="0">
                <a:hlinkClick r:id="rId3"/>
              </a:rPr>
              <a:t>():</a:t>
            </a:r>
            <a:r>
              <a:rPr lang="en-GB" dirty="0"/>
              <a:t> Writes data to a file asynchronously, replacing the file if it already exists.</a:t>
            </a:r>
          </a:p>
          <a:p>
            <a:pPr fontAlgn="base"/>
            <a:r>
              <a:rPr lang="en-GB" b="1" u="sng" dirty="0" err="1">
                <a:hlinkClick r:id="rId4"/>
              </a:rPr>
              <a:t>fs.appendFile</a:t>
            </a:r>
            <a:r>
              <a:rPr lang="en-GB" b="1" u="sng" dirty="0">
                <a:hlinkClick r:id="rId4"/>
              </a:rPr>
              <a:t>()</a:t>
            </a:r>
            <a:r>
              <a:rPr lang="en-GB" b="1" dirty="0"/>
              <a:t>:</a:t>
            </a:r>
            <a:r>
              <a:rPr lang="en-GB" dirty="0"/>
              <a:t> Appends data to a file asynchronously, creating the file if it does not exist.</a:t>
            </a:r>
          </a:p>
          <a:p>
            <a:pPr fontAlgn="base"/>
            <a:r>
              <a:rPr lang="en-GB" b="1" u="sng" dirty="0" err="1">
                <a:hlinkClick r:id="rId5"/>
              </a:rPr>
              <a:t>fs.readdir</a:t>
            </a:r>
            <a:r>
              <a:rPr lang="en-GB" b="1" u="sng" dirty="0">
                <a:hlinkClick r:id="rId5"/>
              </a:rPr>
              <a:t>()</a:t>
            </a:r>
            <a:r>
              <a:rPr lang="en-GB" b="1" dirty="0"/>
              <a:t>:</a:t>
            </a:r>
            <a:r>
              <a:rPr lang="en-GB" dirty="0"/>
              <a:t> Reads the contents of a directory asynchronously.</a:t>
            </a:r>
          </a:p>
          <a:p>
            <a:pPr fontAlgn="base"/>
            <a:r>
              <a:rPr lang="en-GB" b="1" u="sng" dirty="0" err="1">
                <a:hlinkClick r:id="rId6"/>
              </a:rPr>
              <a:t>fs.stat</a:t>
            </a:r>
            <a:r>
              <a:rPr lang="en-GB" b="1" u="sng" dirty="0">
                <a:hlinkClick r:id="rId6"/>
              </a:rPr>
              <a:t>()</a:t>
            </a:r>
            <a:r>
              <a:rPr lang="en-GB" b="1" dirty="0"/>
              <a:t>:</a:t>
            </a:r>
            <a:r>
              <a:rPr lang="en-GB" dirty="0"/>
              <a:t> Retrieves information about a file asynchronously, such as its size, permissions, and timestamps.</a:t>
            </a:r>
          </a:p>
          <a:p>
            <a:pPr fontAlgn="base"/>
            <a:r>
              <a:rPr lang="en-GB" b="1" u="sng" dirty="0" err="1">
                <a:hlinkClick r:id="rId7"/>
              </a:rPr>
              <a:t>fs.unlink</a:t>
            </a:r>
            <a:r>
              <a:rPr lang="en-GB" b="1" u="sng" dirty="0">
                <a:hlinkClick r:id="rId7"/>
              </a:rPr>
              <a:t>()</a:t>
            </a:r>
            <a:r>
              <a:rPr lang="en-GB" b="1" dirty="0"/>
              <a:t>:</a:t>
            </a:r>
            <a:r>
              <a:rPr lang="en-GB" dirty="0"/>
              <a:t> Deletes a file asynchronously.</a:t>
            </a:r>
          </a:p>
          <a:p>
            <a:pPr fontAlgn="base"/>
            <a:r>
              <a:rPr lang="en-GB" b="1" u="sng" dirty="0" err="1">
                <a:hlinkClick r:id="rId8"/>
              </a:rPr>
              <a:t>fs.mkdir</a:t>
            </a:r>
            <a:r>
              <a:rPr lang="en-GB" b="1" u="sng" dirty="0">
                <a:hlinkClick r:id="rId8"/>
              </a:rPr>
              <a:t>()</a:t>
            </a:r>
            <a:r>
              <a:rPr lang="en-GB" b="1" dirty="0"/>
              <a:t>:</a:t>
            </a:r>
            <a:r>
              <a:rPr lang="en-GB" dirty="0"/>
              <a:t> Creates a directory asynchronously.</a:t>
            </a:r>
          </a:p>
          <a:p>
            <a:pPr fontAlgn="base"/>
            <a:r>
              <a:rPr lang="en-GB" b="1" u="sng" dirty="0" err="1">
                <a:hlinkClick r:id="rId9"/>
              </a:rPr>
              <a:t>fs.rmdir</a:t>
            </a:r>
            <a:r>
              <a:rPr lang="en-GB" b="1" u="sng" dirty="0">
                <a:hlinkClick r:id="rId9"/>
              </a:rPr>
              <a:t>()</a:t>
            </a:r>
            <a:r>
              <a:rPr lang="en-GB" b="1" dirty="0"/>
              <a:t>:</a:t>
            </a:r>
            <a:r>
              <a:rPr lang="en-GB" dirty="0"/>
              <a:t> Removes a directory asynchronously.</a:t>
            </a:r>
          </a:p>
          <a:p>
            <a:endParaRPr lang="en-IN" dirty="0"/>
          </a:p>
        </p:txBody>
      </p:sp>
    </p:spTree>
    <p:extLst>
      <p:ext uri="{BB962C8B-B14F-4D97-AF65-F5344CB8AC3E}">
        <p14:creationId xmlns:p14="http://schemas.microsoft.com/office/powerpoint/2010/main" val="14414818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http package </a:t>
            </a:r>
            <a:endParaRPr lang="en-IN" dirty="0"/>
          </a:p>
        </p:txBody>
      </p:sp>
      <p:sp>
        <p:nvSpPr>
          <p:cNvPr id="3" name="Content Placeholder 2"/>
          <p:cNvSpPr>
            <a:spLocks noGrp="1"/>
          </p:cNvSpPr>
          <p:nvPr>
            <p:ph idx="1"/>
          </p:nvPr>
        </p:nvSpPr>
        <p:spPr/>
        <p:txBody>
          <a:bodyPr/>
          <a:lstStyle/>
          <a:p>
            <a:r>
              <a:rPr lang="en-GB" dirty="0" smtClean="0"/>
              <a:t>We can write code to send </a:t>
            </a:r>
            <a:r>
              <a:rPr lang="en-GB" dirty="0" err="1" smtClean="0"/>
              <a:t>req</a:t>
            </a:r>
            <a:r>
              <a:rPr lang="en-GB" dirty="0" smtClean="0"/>
              <a:t> and response </a:t>
            </a:r>
          </a:p>
          <a:p>
            <a:r>
              <a:rPr lang="en-GB" dirty="0" smtClean="0"/>
              <a:t>We deal with http methods </a:t>
            </a:r>
            <a:endParaRPr lang="en-IN" dirty="0"/>
          </a:p>
        </p:txBody>
      </p:sp>
    </p:spTree>
    <p:extLst>
      <p:ext uri="{BB962C8B-B14F-4D97-AF65-F5344CB8AC3E}">
        <p14:creationId xmlns:p14="http://schemas.microsoft.com/office/powerpoint/2010/main" val="11650976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console.log("name " , __</a:t>
            </a:r>
            <a:r>
              <a:rPr lang="en-IN" dirty="0" err="1"/>
              <a:t>dirname</a:t>
            </a:r>
            <a:r>
              <a:rPr lang="en-IN" dirty="0"/>
              <a:t>);</a:t>
            </a:r>
          </a:p>
          <a:p>
            <a:r>
              <a:rPr lang="en-IN" dirty="0"/>
              <a:t>console.log("file name " , __filename);</a:t>
            </a:r>
          </a:p>
          <a:p>
            <a:r>
              <a:rPr lang="en-IN" dirty="0" err="1" smtClean="0"/>
              <a:t>const</a:t>
            </a:r>
            <a:r>
              <a:rPr lang="en-IN" dirty="0" smtClean="0"/>
              <a:t> </a:t>
            </a:r>
            <a:r>
              <a:rPr lang="en-IN" dirty="0"/>
              <a:t>d = </a:t>
            </a:r>
            <a:r>
              <a:rPr lang="en-IN" dirty="0" err="1"/>
              <a:t>path.join</a:t>
            </a:r>
            <a:r>
              <a:rPr lang="en-IN" dirty="0"/>
              <a:t>(__</a:t>
            </a:r>
            <a:r>
              <a:rPr lang="en-IN" dirty="0" err="1"/>
              <a:t>dirname</a:t>
            </a:r>
            <a:r>
              <a:rPr lang="en-IN" dirty="0"/>
              <a:t>  , '</a:t>
            </a:r>
            <a:r>
              <a:rPr lang="en-IN" dirty="0" err="1"/>
              <a:t>d.json</a:t>
            </a:r>
            <a:r>
              <a:rPr lang="en-IN" dirty="0" smtClean="0"/>
              <a:t>')</a:t>
            </a:r>
          </a:p>
          <a:p>
            <a:endParaRPr lang="en-GB" dirty="0"/>
          </a:p>
          <a:p>
            <a:r>
              <a:rPr lang="en-IN" dirty="0" err="1"/>
              <a:t>const</a:t>
            </a:r>
            <a:r>
              <a:rPr lang="en-IN" dirty="0"/>
              <a:t> </a:t>
            </a:r>
            <a:r>
              <a:rPr lang="en-IN" dirty="0" err="1"/>
              <a:t>pathInfo</a:t>
            </a:r>
            <a:r>
              <a:rPr lang="en-IN" dirty="0"/>
              <a:t> = </a:t>
            </a:r>
            <a:r>
              <a:rPr lang="en-IN" dirty="0" err="1"/>
              <a:t>path.parse</a:t>
            </a:r>
            <a:r>
              <a:rPr lang="en-IN" dirty="0"/>
              <a:t>('/users/docs/file.txt</a:t>
            </a:r>
            <a:r>
              <a:rPr lang="en-IN" dirty="0" smtClean="0"/>
              <a:t>');</a:t>
            </a:r>
          </a:p>
          <a:p>
            <a:r>
              <a:rPr lang="en-IN" dirty="0"/>
              <a:t>console.log('Directory:', </a:t>
            </a:r>
            <a:r>
              <a:rPr lang="en-IN" dirty="0" err="1"/>
              <a:t>pathInfo.dir</a:t>
            </a:r>
            <a:r>
              <a:rPr lang="en-IN" dirty="0"/>
              <a:t>); // /users/docs</a:t>
            </a:r>
            <a:br>
              <a:rPr lang="en-IN" dirty="0"/>
            </a:br>
            <a:r>
              <a:rPr lang="en-IN" dirty="0"/>
              <a:t>console.log('Filename:', </a:t>
            </a:r>
            <a:r>
              <a:rPr lang="en-IN" dirty="0" err="1"/>
              <a:t>pathInfo.base</a:t>
            </a:r>
            <a:r>
              <a:rPr lang="en-IN" dirty="0"/>
              <a:t>); // file.txt</a:t>
            </a:r>
            <a:br>
              <a:rPr lang="en-IN" dirty="0"/>
            </a:br>
            <a:r>
              <a:rPr lang="en-IN" dirty="0"/>
              <a:t>console.log('Name only:', pathInfo.name); // file</a:t>
            </a:r>
            <a:br>
              <a:rPr lang="en-IN" dirty="0"/>
            </a:br>
            <a:r>
              <a:rPr lang="en-IN" dirty="0"/>
              <a:t>console.log('Extension:', </a:t>
            </a:r>
            <a:r>
              <a:rPr lang="en-IN" dirty="0" err="1"/>
              <a:t>pathInfo.ext</a:t>
            </a:r>
            <a:r>
              <a:rPr lang="en-IN" dirty="0"/>
              <a:t>); // .txt</a:t>
            </a:r>
          </a:p>
          <a:p>
            <a:endParaRPr lang="en-IN" dirty="0"/>
          </a:p>
        </p:txBody>
      </p:sp>
    </p:spTree>
    <p:extLst>
      <p:ext uri="{BB962C8B-B14F-4D97-AF65-F5344CB8AC3E}">
        <p14:creationId xmlns:p14="http://schemas.microsoft.com/office/powerpoint/2010/main" val="41123958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An API is a set of rules that allow different software applications to communicate with each other .Think of it as a </a:t>
            </a:r>
            <a:r>
              <a:rPr lang="en-GB" b="1" dirty="0"/>
              <a:t>bridge</a:t>
            </a:r>
            <a:r>
              <a:rPr lang="en-GB" dirty="0"/>
              <a:t> that connects two systems—such as a client and a server—and enables them to work together seamlessly.</a:t>
            </a:r>
            <a:endParaRPr lang="en-IN" dirty="0"/>
          </a:p>
        </p:txBody>
      </p:sp>
    </p:spTree>
    <p:extLst>
      <p:ext uri="{BB962C8B-B14F-4D97-AF65-F5344CB8AC3E}">
        <p14:creationId xmlns:p14="http://schemas.microsoft.com/office/powerpoint/2010/main" val="23024680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REST API </a:t>
            </a:r>
            <a:endParaRPr lang="en-IN" dirty="0"/>
          </a:p>
        </p:txBody>
      </p:sp>
      <p:sp>
        <p:nvSpPr>
          <p:cNvPr id="3" name="Content Placeholder 2"/>
          <p:cNvSpPr>
            <a:spLocks noGrp="1"/>
          </p:cNvSpPr>
          <p:nvPr>
            <p:ph idx="1"/>
          </p:nvPr>
        </p:nvSpPr>
        <p:spPr/>
        <p:txBody>
          <a:bodyPr/>
          <a:lstStyle/>
          <a:p>
            <a:r>
              <a:rPr lang="en-IN" dirty="0"/>
              <a:t>Representational State </a:t>
            </a:r>
            <a:r>
              <a:rPr lang="en-IN" dirty="0" smtClean="0"/>
              <a:t>Transfer</a:t>
            </a:r>
          </a:p>
          <a:p>
            <a:endParaRPr lang="en-GB" dirty="0"/>
          </a:p>
          <a:p>
            <a:r>
              <a:rPr lang="en-GB" dirty="0"/>
              <a:t> REST APIs provide a flexible and scalable way for different software systems to communicate with each other over a network, most commonly the internet, using standard web protocols and formats like JSON or XML.</a:t>
            </a:r>
            <a:endParaRPr lang="en-IN" dirty="0"/>
          </a:p>
        </p:txBody>
      </p:sp>
    </p:spTree>
    <p:extLst>
      <p:ext uri="{BB962C8B-B14F-4D97-AF65-F5344CB8AC3E}">
        <p14:creationId xmlns:p14="http://schemas.microsoft.com/office/powerpoint/2010/main" val="31079117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Frameworks</a:t>
            </a:r>
            <a:endParaRPr lang="en-IN" dirty="0"/>
          </a:p>
        </p:txBody>
      </p:sp>
      <p:sp>
        <p:nvSpPr>
          <p:cNvPr id="3" name="Content Placeholder 2"/>
          <p:cNvSpPr>
            <a:spLocks noGrp="1"/>
          </p:cNvSpPr>
          <p:nvPr>
            <p:ph idx="1"/>
          </p:nvPr>
        </p:nvSpPr>
        <p:spPr/>
        <p:txBody>
          <a:bodyPr>
            <a:normAutofit fontScale="55000" lnSpcReduction="20000"/>
          </a:bodyPr>
          <a:lstStyle/>
          <a:p>
            <a:r>
              <a:rPr lang="en-GB" dirty="0" smtClean="0"/>
              <a:t>provide </a:t>
            </a:r>
            <a:r>
              <a:rPr lang="en-GB" dirty="0"/>
              <a:t>structure, organization, and common utilities for building web applications, APIs, and more</a:t>
            </a:r>
            <a:r>
              <a:rPr lang="en-GB" dirty="0" smtClean="0"/>
              <a:t>.</a:t>
            </a:r>
          </a:p>
          <a:p>
            <a:endParaRPr lang="en-GB" dirty="0"/>
          </a:p>
          <a:p>
            <a:r>
              <a:rPr lang="en-GB" dirty="0"/>
              <a:t>They help developers create applications faster by providing ready-made solutions to common development challenges</a:t>
            </a:r>
            <a:r>
              <a:rPr lang="en-GB" dirty="0" smtClean="0"/>
              <a:t>.</a:t>
            </a:r>
          </a:p>
          <a:p>
            <a:endParaRPr lang="en-GB" dirty="0"/>
          </a:p>
          <a:p>
            <a:r>
              <a:rPr lang="en-GB" dirty="0"/>
              <a:t>Advantages of using a framework:</a:t>
            </a:r>
          </a:p>
          <a:p>
            <a:r>
              <a:rPr lang="en-GB" b="1" dirty="0"/>
              <a:t>Productivity</a:t>
            </a:r>
            <a:r>
              <a:rPr lang="en-GB" dirty="0"/>
              <a:t>: Frameworks provide pre-built solutions for common tasks like routing, middleware management, and templating.</a:t>
            </a:r>
          </a:p>
          <a:p>
            <a:r>
              <a:rPr lang="en-GB" b="1" dirty="0"/>
              <a:t>Standardization</a:t>
            </a:r>
            <a:r>
              <a:rPr lang="en-GB" dirty="0"/>
              <a:t>: They establish patterns and structures that make code more maintainable and easier to understand.</a:t>
            </a:r>
          </a:p>
          <a:p>
            <a:r>
              <a:rPr lang="en-GB" b="1" dirty="0"/>
              <a:t>Community</a:t>
            </a:r>
            <a:r>
              <a:rPr lang="en-GB" dirty="0"/>
              <a:t>: Popular frameworks have large communities, extensive documentation, and many third-party plugins or extensions.</a:t>
            </a:r>
          </a:p>
          <a:p>
            <a:r>
              <a:rPr lang="en-GB" b="1" dirty="0"/>
              <a:t>Security</a:t>
            </a:r>
            <a:r>
              <a:rPr lang="en-GB" dirty="0"/>
              <a:t>: Well-maintained frameworks often include built-in security features and best practices.</a:t>
            </a:r>
          </a:p>
          <a:p>
            <a:r>
              <a:rPr lang="en-GB" b="1" dirty="0"/>
              <a:t>Performance</a:t>
            </a:r>
            <a:r>
              <a:rPr lang="en-GB" dirty="0"/>
              <a:t>: Many frameworks are optimized for performance and provide tools for caching, load balancing, and more.</a:t>
            </a:r>
          </a:p>
          <a:p>
            <a:endParaRPr lang="en-IN" dirty="0"/>
          </a:p>
        </p:txBody>
      </p:sp>
    </p:spTree>
    <p:extLst>
      <p:ext uri="{BB962C8B-B14F-4D97-AF65-F5344CB8AC3E}">
        <p14:creationId xmlns:p14="http://schemas.microsoft.com/office/powerpoint/2010/main" val="14425636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Express</a:t>
            </a:r>
            <a:endParaRPr lang="en-IN" dirty="0"/>
          </a:p>
        </p:txBody>
      </p:sp>
      <p:sp>
        <p:nvSpPr>
          <p:cNvPr id="3" name="Content Placeholder 2"/>
          <p:cNvSpPr>
            <a:spLocks noGrp="1"/>
          </p:cNvSpPr>
          <p:nvPr>
            <p:ph idx="1"/>
          </p:nvPr>
        </p:nvSpPr>
        <p:spPr/>
        <p:txBody>
          <a:bodyPr/>
          <a:lstStyle/>
          <a:p>
            <a:r>
              <a:rPr lang="en-GB" dirty="0"/>
              <a:t>Express.js </a:t>
            </a:r>
            <a:r>
              <a:rPr lang="en-GB" dirty="0" smtClean="0"/>
              <a:t> </a:t>
            </a:r>
            <a:r>
              <a:rPr lang="en-GB" dirty="0"/>
              <a:t>is the most popular Node.js web application </a:t>
            </a:r>
            <a:r>
              <a:rPr lang="en-GB" dirty="0" smtClean="0"/>
              <a:t>framework</a:t>
            </a:r>
          </a:p>
          <a:p>
            <a:r>
              <a:rPr lang="en-GB" dirty="0" smtClean="0"/>
              <a:t>Designed </a:t>
            </a:r>
            <a:r>
              <a:rPr lang="en-GB" dirty="0"/>
              <a:t>for building web applications and APIs</a:t>
            </a:r>
            <a:r>
              <a:rPr lang="en-GB" dirty="0" smtClean="0"/>
              <a:t>.</a:t>
            </a:r>
          </a:p>
          <a:p>
            <a:endParaRPr lang="en-GB" dirty="0"/>
          </a:p>
          <a:p>
            <a:r>
              <a:rPr lang="en-GB" dirty="0" err="1" smtClean="0"/>
              <a:t>npm</a:t>
            </a:r>
            <a:r>
              <a:rPr lang="en-GB" dirty="0" smtClean="0"/>
              <a:t> install express </a:t>
            </a:r>
            <a:endParaRPr lang="en-IN" dirty="0"/>
          </a:p>
        </p:txBody>
      </p:sp>
    </p:spTree>
    <p:extLst>
      <p:ext uri="{BB962C8B-B14F-4D97-AF65-F5344CB8AC3E}">
        <p14:creationId xmlns:p14="http://schemas.microsoft.com/office/powerpoint/2010/main" val="17787201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smtClean="0"/>
              <a:t>1) create folder Project1</a:t>
            </a:r>
          </a:p>
          <a:p>
            <a:r>
              <a:rPr lang="en-GB" dirty="0" smtClean="0"/>
              <a:t>2) </a:t>
            </a:r>
            <a:r>
              <a:rPr lang="en-GB" dirty="0" err="1" smtClean="0"/>
              <a:t>npm</a:t>
            </a:r>
            <a:r>
              <a:rPr lang="en-GB" dirty="0" smtClean="0"/>
              <a:t> </a:t>
            </a:r>
            <a:r>
              <a:rPr lang="en-GB" dirty="0" err="1" smtClean="0"/>
              <a:t>init</a:t>
            </a:r>
            <a:r>
              <a:rPr lang="en-GB" dirty="0" smtClean="0"/>
              <a:t> –y ------ </a:t>
            </a:r>
            <a:r>
              <a:rPr lang="en-GB" dirty="0" err="1" smtClean="0"/>
              <a:t>package.json</a:t>
            </a:r>
            <a:endParaRPr lang="en-GB" dirty="0" smtClean="0"/>
          </a:p>
          <a:p>
            <a:r>
              <a:rPr lang="en-GB" dirty="0" smtClean="0"/>
              <a:t>3)</a:t>
            </a:r>
          </a:p>
          <a:p>
            <a:endParaRPr lang="en-GB" dirty="0"/>
          </a:p>
          <a:p>
            <a:r>
              <a:rPr lang="en-IN" dirty="0" smtClean="0"/>
              <a:t>https://www.mockaroo.com/</a:t>
            </a:r>
            <a:endParaRPr lang="en-IN" dirty="0"/>
          </a:p>
        </p:txBody>
      </p:sp>
    </p:spTree>
    <p:extLst>
      <p:ext uri="{BB962C8B-B14F-4D97-AF65-F5344CB8AC3E}">
        <p14:creationId xmlns:p14="http://schemas.microsoft.com/office/powerpoint/2010/main" val="27373396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err="1"/>
              <a:t>app.get</a:t>
            </a:r>
            <a:r>
              <a:rPr lang="en-GB" dirty="0"/>
              <a:t>() - Handle GET requests</a:t>
            </a:r>
          </a:p>
          <a:p>
            <a:r>
              <a:rPr lang="en-GB" dirty="0" err="1"/>
              <a:t>app.post</a:t>
            </a:r>
            <a:r>
              <a:rPr lang="en-GB" dirty="0"/>
              <a:t>() - Handle POST requests</a:t>
            </a:r>
          </a:p>
          <a:p>
            <a:r>
              <a:rPr lang="en-GB" dirty="0" err="1"/>
              <a:t>app.put</a:t>
            </a:r>
            <a:r>
              <a:rPr lang="en-GB" dirty="0"/>
              <a:t>() - Handle PUT requests</a:t>
            </a:r>
          </a:p>
          <a:p>
            <a:r>
              <a:rPr lang="en-GB" dirty="0" err="1"/>
              <a:t>app.delete</a:t>
            </a:r>
            <a:r>
              <a:rPr lang="en-GB" dirty="0"/>
              <a:t>() - Handle DELETE requests</a:t>
            </a:r>
          </a:p>
          <a:p>
            <a:endParaRPr lang="en-IN" dirty="0"/>
          </a:p>
        </p:txBody>
      </p:sp>
    </p:spTree>
    <p:extLst>
      <p:ext uri="{BB962C8B-B14F-4D97-AF65-F5344CB8AC3E}">
        <p14:creationId xmlns:p14="http://schemas.microsoft.com/office/powerpoint/2010/main" val="2743932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498</TotalTime>
  <Words>827</Words>
  <Application>Microsoft Office PowerPoint</Application>
  <PresentationFormat>On-screen Show (4:3)</PresentationFormat>
  <Paragraphs>152</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Asynchronous Programming</vt:lpstr>
      <vt:lpstr>PowerPoint Presentation</vt:lpstr>
      <vt:lpstr>PowerPoint Presentation</vt:lpstr>
      <vt:lpstr>Modules  </vt:lpstr>
      <vt:lpstr>PowerPoint Presentation</vt:lpstr>
      <vt:lpstr>PowerPoint Presentation</vt:lpstr>
      <vt:lpstr>NPM (Node Package Manager)</vt:lpstr>
      <vt:lpstr>PowerPoint Presentation</vt:lpstr>
      <vt:lpstr>PowerPoint Presentation</vt:lpstr>
      <vt:lpstr>PowerPoint Presentation</vt:lpstr>
      <vt:lpstr>PowerPoint Presentation</vt:lpstr>
      <vt:lpstr>PowerPoint Presentation</vt:lpstr>
      <vt:lpstr>PowerPoint Presentation</vt:lpstr>
      <vt:lpstr>fs Module</vt:lpstr>
      <vt:lpstr>PowerPoint Presentation</vt:lpstr>
      <vt:lpstr>PowerPoint Presentation</vt:lpstr>
      <vt:lpstr>PowerPoint Presentation</vt:lpstr>
      <vt:lpstr>fs.readFile()</vt:lpstr>
      <vt:lpstr> fs.readdir() </vt:lpstr>
      <vt:lpstr>PowerPoint Presentation</vt:lpstr>
      <vt:lpstr>PowerPoint Presentation</vt:lpstr>
      <vt:lpstr>http package </vt:lpstr>
      <vt:lpstr>PowerPoint Presentation</vt:lpstr>
      <vt:lpstr>PowerPoint Presentation</vt:lpstr>
      <vt:lpstr>REST API </vt:lpstr>
      <vt:lpstr>Frameworks</vt:lpstr>
      <vt:lpstr>Express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Admin</cp:lastModifiedBy>
  <cp:revision>23</cp:revision>
  <dcterms:created xsi:type="dcterms:W3CDTF">2025-09-23T23:31:27Z</dcterms:created>
  <dcterms:modified xsi:type="dcterms:W3CDTF">2026-03-17T07:33:58Z</dcterms:modified>
</cp:coreProperties>
</file>