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77"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8" r:id="rId24"/>
    <p:sldId id="279" r:id="rId25"/>
    <p:sldId id="280"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56E1E6B-A5B4-4114-B1B6-7A221844CD04}"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748784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6E1E6B-A5B4-4114-B1B6-7A221844CD04}"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2536755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6E1E6B-A5B4-4114-B1B6-7A221844CD04}"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3799495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56E1E6B-A5B4-4114-B1B6-7A221844CD04}"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390402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56E1E6B-A5B4-4114-B1B6-7A221844CD04}" type="datetimeFigureOut">
              <a:rPr lang="en-IN" smtClean="0"/>
              <a:t>02-03-2026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4153295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56E1E6B-A5B4-4114-B1B6-7A221844CD04}" type="datetimeFigureOut">
              <a:rPr lang="en-IN" smtClean="0"/>
              <a:t>02-03-2026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3434552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6E1E6B-A5B4-4114-B1B6-7A221844CD04}" type="datetimeFigureOut">
              <a:rPr lang="en-IN" smtClean="0"/>
              <a:t>02-03-2026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3487588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6E1E6B-A5B4-4114-B1B6-7A221844CD04}"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97748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6E1E6B-A5B4-4114-B1B6-7A221844CD04}"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225059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6E1E6B-A5B4-4114-B1B6-7A221844CD04}"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1024677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56E1E6B-A5B4-4114-B1B6-7A221844CD04}"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607287-B3AD-4E7C-9AE3-8F0370F881E1}" type="slidenum">
              <a:rPr lang="en-IN" smtClean="0"/>
              <a:t>‹#›</a:t>
            </a:fld>
            <a:endParaRPr lang="en-IN"/>
          </a:p>
        </p:txBody>
      </p:sp>
    </p:spTree>
    <p:extLst>
      <p:ext uri="{BB962C8B-B14F-4D97-AF65-F5344CB8AC3E}">
        <p14:creationId xmlns:p14="http://schemas.microsoft.com/office/powerpoint/2010/main" val="211083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E1E6B-A5B4-4114-B1B6-7A221844CD04}" type="datetimeFigureOut">
              <a:rPr lang="en-IN" smtClean="0"/>
              <a:t>02-03-2026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607287-B3AD-4E7C-9AE3-8F0370F881E1}" type="slidenum">
              <a:rPr lang="en-IN" smtClean="0"/>
              <a:t>‹#›</a:t>
            </a:fld>
            <a:endParaRPr lang="en-IN"/>
          </a:p>
        </p:txBody>
      </p:sp>
    </p:spTree>
    <p:extLst>
      <p:ext uri="{BB962C8B-B14F-4D97-AF65-F5344CB8AC3E}">
        <p14:creationId xmlns:p14="http://schemas.microsoft.com/office/powerpoint/2010/main" val="1275419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49419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fontAlgn="base"/>
            <a:r>
              <a:rPr lang="en-GB" dirty="0"/>
              <a:t>HTML5 is the fifth version of Hypertext </a:t>
            </a:r>
            <a:r>
              <a:rPr lang="en-GB" dirty="0" err="1"/>
              <a:t>Markup</a:t>
            </a:r>
            <a:r>
              <a:rPr lang="en-GB" dirty="0"/>
              <a:t> Language (HTML), a standard language used to structure webpages. It defines how content on a webpage should be structured and displayed. Here are some key points of HTML5</a:t>
            </a:r>
            <a:r>
              <a:rPr lang="en-GB" dirty="0" smtClean="0"/>
              <a:t>.</a:t>
            </a:r>
          </a:p>
          <a:p>
            <a:pPr marL="0" indent="0" fontAlgn="base">
              <a:buNone/>
            </a:pPr>
            <a:endParaRPr lang="en-GB" dirty="0"/>
          </a:p>
          <a:p>
            <a:pPr fontAlgn="base"/>
            <a:r>
              <a:rPr lang="en-GB" dirty="0"/>
              <a:t>Provides multimedia support by embedding audio and video without plugins.</a:t>
            </a:r>
          </a:p>
          <a:p>
            <a:pPr fontAlgn="base"/>
            <a:r>
              <a:rPr lang="en-GB" dirty="0"/>
              <a:t>Adds new form controls like date and email input types.</a:t>
            </a:r>
          </a:p>
          <a:p>
            <a:pPr fontAlgn="base"/>
            <a:r>
              <a:rPr lang="en-GB" dirty="0"/>
              <a:t>Enables web storage to store data offline for better performance</a:t>
            </a:r>
            <a:r>
              <a:rPr lang="en-GB" dirty="0" smtClean="0"/>
              <a:t>.</a:t>
            </a:r>
          </a:p>
          <a:p>
            <a:pPr fontAlgn="base"/>
            <a:r>
              <a:rPr lang="en-GB" dirty="0" smtClean="0"/>
              <a:t> Delivers improved performance, especially on mobile devices.</a:t>
            </a:r>
          </a:p>
          <a:p>
            <a:endParaRPr lang="en-IN" dirty="0"/>
          </a:p>
        </p:txBody>
      </p:sp>
    </p:spTree>
    <p:extLst>
      <p:ext uri="{BB962C8B-B14F-4D97-AF65-F5344CB8AC3E}">
        <p14:creationId xmlns:p14="http://schemas.microsoft.com/office/powerpoint/2010/main" val="2344464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93428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GB" dirty="0" smtClean="0"/>
              <a:t>To Display Information and accept Input From User we learn different HTML Tags </a:t>
            </a:r>
          </a:p>
          <a:p>
            <a:r>
              <a:rPr lang="en-GB" dirty="0" smtClean="0"/>
              <a:t>Empty Tags as well as Body Tags we know </a:t>
            </a:r>
          </a:p>
          <a:p>
            <a:r>
              <a:rPr lang="en-GB" dirty="0" smtClean="0"/>
              <a:t>With HTML5 we are easily added video and audio file also </a:t>
            </a:r>
          </a:p>
          <a:p>
            <a:pPr marL="0" indent="0">
              <a:buNone/>
            </a:pPr>
            <a:r>
              <a:rPr lang="en-IN" dirty="0"/>
              <a:t>&lt;video width="320" height="240" controls&gt;</a:t>
            </a:r>
            <a:r>
              <a:rPr lang="en-IN" dirty="0" smtClean="0"/>
              <a:t/>
            </a:r>
            <a:br>
              <a:rPr lang="en-IN" dirty="0" smtClean="0"/>
            </a:br>
            <a:r>
              <a:rPr lang="en-IN" dirty="0"/>
              <a:t>  &lt;source </a:t>
            </a:r>
            <a:r>
              <a:rPr lang="en-IN" dirty="0" err="1"/>
              <a:t>src</a:t>
            </a:r>
            <a:r>
              <a:rPr lang="en-IN" dirty="0"/>
              <a:t>="movie.mp4" type="video/mp4"&gt;</a:t>
            </a:r>
            <a:r>
              <a:rPr lang="en-IN" dirty="0" smtClean="0"/>
              <a:t/>
            </a:r>
            <a:br>
              <a:rPr lang="en-IN" dirty="0" smtClean="0"/>
            </a:br>
            <a:r>
              <a:rPr lang="en-IN" dirty="0"/>
              <a:t>  </a:t>
            </a:r>
            <a:r>
              <a:rPr lang="en-IN" dirty="0" smtClean="0"/>
              <a:t>Your </a:t>
            </a:r>
            <a:r>
              <a:rPr lang="en-IN" dirty="0"/>
              <a:t>browser does not support the video tag.</a:t>
            </a:r>
            <a:r>
              <a:rPr lang="en-IN" dirty="0" smtClean="0"/>
              <a:t/>
            </a:r>
            <a:br>
              <a:rPr lang="en-IN" dirty="0" smtClean="0"/>
            </a:br>
            <a:r>
              <a:rPr lang="en-IN" dirty="0"/>
              <a:t>&lt;/video&gt;</a:t>
            </a:r>
            <a:endParaRPr lang="en-GB" dirty="0" smtClean="0"/>
          </a:p>
          <a:p>
            <a:pPr marL="0" indent="0">
              <a:buNone/>
            </a:pPr>
            <a:endParaRPr lang="en-IN" dirty="0"/>
          </a:p>
        </p:txBody>
      </p:sp>
    </p:spTree>
    <p:extLst>
      <p:ext uri="{BB962C8B-B14F-4D97-AF65-F5344CB8AC3E}">
        <p14:creationId xmlns:p14="http://schemas.microsoft.com/office/powerpoint/2010/main" val="392438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smtClean="0"/>
              <a:t>When we need to add videos in html we need to convert video in some specific format which is difficult </a:t>
            </a:r>
          </a:p>
          <a:p>
            <a:r>
              <a:rPr lang="en-GB" dirty="0" smtClean="0"/>
              <a:t>Now a days videos are easily available on </a:t>
            </a:r>
            <a:r>
              <a:rPr lang="en-GB" dirty="0" err="1" smtClean="0"/>
              <a:t>Youtube</a:t>
            </a:r>
            <a:r>
              <a:rPr lang="en-GB" dirty="0" smtClean="0"/>
              <a:t> so we can add those videos directly </a:t>
            </a:r>
          </a:p>
          <a:p>
            <a:r>
              <a:rPr lang="en-GB" dirty="0" smtClean="0"/>
              <a:t>For that we required id for that video</a:t>
            </a:r>
          </a:p>
          <a:p>
            <a:r>
              <a:rPr lang="en-IN" dirty="0" smtClean="0"/>
              <a:t>https://www.youtube.com/watch?v=</a:t>
            </a:r>
            <a:r>
              <a:rPr lang="en-IN" b="1" dirty="0" smtClean="0"/>
              <a:t>Jyy0ra2WcQQ</a:t>
            </a:r>
            <a:endParaRPr lang="en-IN" b="1" dirty="0"/>
          </a:p>
        </p:txBody>
      </p:sp>
    </p:spTree>
    <p:extLst>
      <p:ext uri="{BB962C8B-B14F-4D97-AF65-F5344CB8AC3E}">
        <p14:creationId xmlns:p14="http://schemas.microsoft.com/office/powerpoint/2010/main" val="2844752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smtClean="0"/>
              <a:t>To add You tube video we need to use iframe tag</a:t>
            </a:r>
          </a:p>
          <a:p>
            <a:endParaRPr lang="en-GB" dirty="0"/>
          </a:p>
          <a:p>
            <a:r>
              <a:rPr lang="en-GB" dirty="0" smtClean="0"/>
              <a:t>&lt;iframe width="420" height="345" </a:t>
            </a:r>
            <a:r>
              <a:rPr lang="en-GB" dirty="0" err="1" smtClean="0"/>
              <a:t>src</a:t>
            </a:r>
            <a:r>
              <a:rPr lang="en-GB" dirty="0" smtClean="0"/>
              <a:t>="https://www.youtube.com/embed/</a:t>
            </a:r>
            <a:r>
              <a:rPr lang="en-GB" b="1" dirty="0" smtClean="0"/>
              <a:t>Jyy0ra2WcQQ</a:t>
            </a:r>
            <a:r>
              <a:rPr lang="en-GB" dirty="0" smtClean="0"/>
              <a:t>"&gt;</a:t>
            </a:r>
          </a:p>
          <a:p>
            <a:pPr marL="0" indent="0">
              <a:buNone/>
            </a:pPr>
            <a:r>
              <a:rPr lang="en-GB" dirty="0" smtClean="0"/>
              <a:t>&lt;/iframe&gt;</a:t>
            </a:r>
            <a:endParaRPr lang="en-IN" dirty="0"/>
          </a:p>
        </p:txBody>
      </p:sp>
    </p:spTree>
    <p:extLst>
      <p:ext uri="{BB962C8B-B14F-4D97-AF65-F5344CB8AC3E}">
        <p14:creationId xmlns:p14="http://schemas.microsoft.com/office/powerpoint/2010/main" val="82320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iframe</a:t>
            </a:r>
            <a:endParaRPr lang="en-IN" dirty="0"/>
          </a:p>
        </p:txBody>
      </p:sp>
      <p:sp>
        <p:nvSpPr>
          <p:cNvPr id="3" name="Content Placeholder 2"/>
          <p:cNvSpPr>
            <a:spLocks noGrp="1"/>
          </p:cNvSpPr>
          <p:nvPr>
            <p:ph idx="1"/>
          </p:nvPr>
        </p:nvSpPr>
        <p:spPr/>
        <p:txBody>
          <a:bodyPr>
            <a:normAutofit fontScale="77500" lnSpcReduction="20000"/>
          </a:bodyPr>
          <a:lstStyle/>
          <a:p>
            <a:pPr fontAlgn="base"/>
            <a:r>
              <a:rPr lang="en-GB" dirty="0"/>
              <a:t>An iframe, or Inline Frame, is an HTML element represented by the &lt;iframe&gt; tag. It functions as a 'window' on your webpage through which visitors can view and interact with another webpage from a different source.</a:t>
            </a:r>
          </a:p>
          <a:p>
            <a:pPr marL="0" indent="0" fontAlgn="base">
              <a:buNone/>
            </a:pPr>
            <a:endParaRPr lang="en-GB" dirty="0" smtClean="0"/>
          </a:p>
          <a:p>
            <a:pPr marL="0" indent="0" fontAlgn="base">
              <a:buNone/>
            </a:pPr>
            <a:r>
              <a:rPr lang="en-GB" dirty="0" smtClean="0"/>
              <a:t>Iframes </a:t>
            </a:r>
            <a:r>
              <a:rPr lang="en-GB" dirty="0"/>
              <a:t>are used for various purposes like:</a:t>
            </a:r>
          </a:p>
          <a:p>
            <a:pPr fontAlgn="base"/>
            <a:r>
              <a:rPr lang="en-GB" b="1" dirty="0"/>
              <a:t>Embedding Multimedia</a:t>
            </a:r>
            <a:r>
              <a:rPr lang="en-GB" dirty="0"/>
              <a:t>: Easily integrate videos, audio, or animations from platforms like YouTube, etc.</a:t>
            </a:r>
          </a:p>
          <a:p>
            <a:pPr fontAlgn="base"/>
            <a:r>
              <a:rPr lang="en-GB" b="1" dirty="0"/>
              <a:t>Including Maps</a:t>
            </a:r>
            <a:r>
              <a:rPr lang="en-GB" dirty="0"/>
              <a:t>: Embed maps from services like Google Maps directly into your site.</a:t>
            </a:r>
          </a:p>
          <a:p>
            <a:pPr fontAlgn="base"/>
            <a:r>
              <a:rPr lang="en-GB" b="1" dirty="0"/>
              <a:t>Loading Forms and Widgets</a:t>
            </a:r>
            <a:r>
              <a:rPr lang="en-GB" dirty="0"/>
              <a:t>: Incorporate forms or widgets from other sources without writing complex code.</a:t>
            </a:r>
          </a:p>
        </p:txBody>
      </p:sp>
    </p:spTree>
    <p:extLst>
      <p:ext uri="{BB962C8B-B14F-4D97-AF65-F5344CB8AC3E}">
        <p14:creationId xmlns:p14="http://schemas.microsoft.com/office/powerpoint/2010/main" val="2275267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Hyperlink</a:t>
            </a:r>
            <a:endParaRPr lang="en-IN" dirty="0"/>
          </a:p>
        </p:txBody>
      </p:sp>
      <p:sp>
        <p:nvSpPr>
          <p:cNvPr id="3" name="Content Placeholder 2"/>
          <p:cNvSpPr>
            <a:spLocks noGrp="1"/>
          </p:cNvSpPr>
          <p:nvPr>
            <p:ph idx="1"/>
          </p:nvPr>
        </p:nvSpPr>
        <p:spPr/>
        <p:txBody>
          <a:bodyPr>
            <a:normAutofit fontScale="85000" lnSpcReduction="10000"/>
          </a:bodyPr>
          <a:lstStyle/>
          <a:p>
            <a:r>
              <a:rPr lang="en-GB" dirty="0" smtClean="0"/>
              <a:t>We are using &lt;a &gt; tag for adding hyperlink </a:t>
            </a:r>
          </a:p>
          <a:p>
            <a:r>
              <a:rPr lang="en-GB" dirty="0" smtClean="0"/>
              <a:t>When we click on Hyperlink resultant page is open in same Browser Window</a:t>
            </a:r>
          </a:p>
          <a:p>
            <a:r>
              <a:rPr lang="en-GB" dirty="0" smtClean="0"/>
              <a:t>So if we want to open in new window then we need to use one more attribute for &lt;a &gt; tag</a:t>
            </a:r>
          </a:p>
          <a:p>
            <a:pPr marL="0" indent="0">
              <a:buNone/>
            </a:pPr>
            <a:endParaRPr lang="en-GB" dirty="0" smtClean="0"/>
          </a:p>
          <a:p>
            <a:r>
              <a:rPr lang="en-GB" dirty="0" smtClean="0"/>
              <a:t>&lt;a </a:t>
            </a:r>
            <a:r>
              <a:rPr lang="en-GB" dirty="0" err="1" smtClean="0"/>
              <a:t>href</a:t>
            </a:r>
            <a:r>
              <a:rPr lang="en-GB" dirty="0" smtClean="0"/>
              <a:t>=“” target= “”&gt;Link1 &lt;/a&gt;</a:t>
            </a:r>
          </a:p>
          <a:p>
            <a:r>
              <a:rPr lang="en-GB" dirty="0"/>
              <a:t>_self - Default. Opens the document in the same window/tab as it was clicked</a:t>
            </a:r>
          </a:p>
          <a:p>
            <a:r>
              <a:rPr lang="en-GB" dirty="0"/>
              <a:t>_blank - Opens the document in a new window or tab</a:t>
            </a:r>
          </a:p>
          <a:p>
            <a:endParaRPr lang="en-GB" dirty="0"/>
          </a:p>
        </p:txBody>
      </p:sp>
    </p:spTree>
    <p:extLst>
      <p:ext uri="{BB962C8B-B14F-4D97-AF65-F5344CB8AC3E}">
        <p14:creationId xmlns:p14="http://schemas.microsoft.com/office/powerpoint/2010/main" val="2285562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Input </a:t>
            </a:r>
            <a:r>
              <a:rPr lang="en-GB" dirty="0" err="1" smtClean="0"/>
              <a:t>Elemenets</a:t>
            </a:r>
            <a:endParaRPr lang="en-IN" dirty="0"/>
          </a:p>
        </p:txBody>
      </p:sp>
      <p:sp>
        <p:nvSpPr>
          <p:cNvPr id="3" name="Content Placeholder 2"/>
          <p:cNvSpPr>
            <a:spLocks noGrp="1"/>
          </p:cNvSpPr>
          <p:nvPr>
            <p:ph idx="1"/>
          </p:nvPr>
        </p:nvSpPr>
        <p:spPr/>
        <p:txBody>
          <a:bodyPr>
            <a:normAutofit lnSpcReduction="10000"/>
          </a:bodyPr>
          <a:lstStyle/>
          <a:p>
            <a:r>
              <a:rPr lang="en-GB" dirty="0" smtClean="0"/>
              <a:t>We can accept Input from user with the help of &lt;input type=“”&gt; tags </a:t>
            </a:r>
          </a:p>
          <a:p>
            <a:r>
              <a:rPr lang="en-GB" dirty="0" smtClean="0"/>
              <a:t>For input tag name attribute is important </a:t>
            </a:r>
          </a:p>
          <a:p>
            <a:pPr marL="0" indent="0">
              <a:buNone/>
            </a:pPr>
            <a:r>
              <a:rPr lang="en-GB" dirty="0"/>
              <a:t> </a:t>
            </a:r>
            <a:r>
              <a:rPr lang="en-GB" dirty="0" smtClean="0"/>
              <a:t>to add data in </a:t>
            </a:r>
            <a:r>
              <a:rPr lang="en-GB" dirty="0" err="1" smtClean="0"/>
              <a:t>url</a:t>
            </a:r>
            <a:r>
              <a:rPr lang="en-GB" dirty="0" smtClean="0"/>
              <a:t> </a:t>
            </a:r>
          </a:p>
          <a:p>
            <a:pPr marL="0" indent="0">
              <a:buNone/>
            </a:pPr>
            <a:r>
              <a:rPr lang="en-GB" dirty="0" smtClean="0"/>
              <a:t>With that name attribute we have another attribute id also which is used in </a:t>
            </a:r>
            <a:r>
              <a:rPr lang="en-GB" dirty="0" err="1" smtClean="0"/>
              <a:t>css</a:t>
            </a:r>
            <a:r>
              <a:rPr lang="en-GB" dirty="0" smtClean="0"/>
              <a:t> and </a:t>
            </a:r>
            <a:r>
              <a:rPr lang="en-GB" dirty="0" err="1" smtClean="0"/>
              <a:t>Javascript</a:t>
            </a:r>
            <a:r>
              <a:rPr lang="en-GB" dirty="0" smtClean="0"/>
              <a:t> </a:t>
            </a:r>
          </a:p>
          <a:p>
            <a:pPr marL="0" indent="0">
              <a:buNone/>
            </a:pPr>
            <a:r>
              <a:rPr lang="en-GB" dirty="0" smtClean="0"/>
              <a:t>Name can be same to make a group but id should be unique only </a:t>
            </a:r>
            <a:endParaRPr lang="en-IN" dirty="0"/>
          </a:p>
        </p:txBody>
      </p:sp>
    </p:spTree>
    <p:extLst>
      <p:ext uri="{BB962C8B-B14F-4D97-AF65-F5344CB8AC3E}">
        <p14:creationId xmlns:p14="http://schemas.microsoft.com/office/powerpoint/2010/main" val="2377956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Attributes of input tags	</a:t>
            </a:r>
            <a:endParaRPr lang="en-IN" dirty="0"/>
          </a:p>
        </p:txBody>
      </p:sp>
      <p:sp>
        <p:nvSpPr>
          <p:cNvPr id="3" name="Content Placeholder 2"/>
          <p:cNvSpPr>
            <a:spLocks noGrp="1"/>
          </p:cNvSpPr>
          <p:nvPr>
            <p:ph idx="1"/>
          </p:nvPr>
        </p:nvSpPr>
        <p:spPr/>
        <p:txBody>
          <a:bodyPr/>
          <a:lstStyle/>
          <a:p>
            <a:r>
              <a:rPr lang="en-GB" dirty="0" smtClean="0"/>
              <a:t>&lt;input &gt;</a:t>
            </a:r>
          </a:p>
          <a:p>
            <a:r>
              <a:rPr lang="en-GB" dirty="0" smtClean="0"/>
              <a:t>type  ---  specify type of input elements</a:t>
            </a:r>
          </a:p>
          <a:p>
            <a:r>
              <a:rPr lang="en-GB" dirty="0"/>
              <a:t>n</a:t>
            </a:r>
            <a:r>
              <a:rPr lang="en-GB" dirty="0" smtClean="0"/>
              <a:t>ame -  used to pass data to next page</a:t>
            </a:r>
          </a:p>
          <a:p>
            <a:r>
              <a:rPr lang="en-GB" dirty="0" smtClean="0"/>
              <a:t>value -  display default content </a:t>
            </a:r>
          </a:p>
          <a:p>
            <a:r>
              <a:rPr lang="en-GB" dirty="0" smtClean="0"/>
              <a:t>Size default value 20 we can change </a:t>
            </a:r>
          </a:p>
          <a:p>
            <a:r>
              <a:rPr lang="en-GB" dirty="0" err="1" smtClean="0"/>
              <a:t>Maxlength</a:t>
            </a:r>
            <a:r>
              <a:rPr lang="en-GB" dirty="0" smtClean="0"/>
              <a:t> </a:t>
            </a:r>
          </a:p>
          <a:p>
            <a:r>
              <a:rPr lang="en-GB" dirty="0" smtClean="0"/>
              <a:t>Min and max and others </a:t>
            </a:r>
            <a:endParaRPr lang="en-IN" dirty="0"/>
          </a:p>
        </p:txBody>
      </p:sp>
    </p:spTree>
    <p:extLst>
      <p:ext uri="{BB962C8B-B14F-4D97-AF65-F5344CB8AC3E}">
        <p14:creationId xmlns:p14="http://schemas.microsoft.com/office/powerpoint/2010/main" val="2836703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CSS</a:t>
            </a:r>
            <a:endParaRPr lang="en-IN" dirty="0"/>
          </a:p>
        </p:txBody>
      </p:sp>
      <p:sp>
        <p:nvSpPr>
          <p:cNvPr id="3" name="Content Placeholder 2"/>
          <p:cNvSpPr>
            <a:spLocks noGrp="1"/>
          </p:cNvSpPr>
          <p:nvPr>
            <p:ph idx="1"/>
          </p:nvPr>
        </p:nvSpPr>
        <p:spPr/>
        <p:txBody>
          <a:bodyPr/>
          <a:lstStyle/>
          <a:p>
            <a:r>
              <a:rPr lang="en-GB" dirty="0"/>
              <a:t>CSS is the language we use to style a Web page.</a:t>
            </a:r>
          </a:p>
          <a:p>
            <a:r>
              <a:rPr lang="en-GB" dirty="0"/>
              <a:t>CSS stands for Cascading Style Sheets</a:t>
            </a:r>
          </a:p>
          <a:p>
            <a:r>
              <a:rPr lang="en-GB" dirty="0"/>
              <a:t>CSS describes how HTML elements are to be displayed </a:t>
            </a:r>
            <a:endParaRPr lang="en-GB" dirty="0" smtClean="0"/>
          </a:p>
          <a:p>
            <a:r>
              <a:rPr lang="en-GB" dirty="0" smtClean="0"/>
              <a:t>External </a:t>
            </a:r>
            <a:r>
              <a:rPr lang="en-GB" dirty="0"/>
              <a:t>stylesheets are stored in CSS files</a:t>
            </a:r>
          </a:p>
          <a:p>
            <a:endParaRPr lang="en-IN" dirty="0"/>
          </a:p>
        </p:txBody>
      </p:sp>
    </p:spTree>
    <p:extLst>
      <p:ext uri="{BB962C8B-B14F-4D97-AF65-F5344CB8AC3E}">
        <p14:creationId xmlns:p14="http://schemas.microsoft.com/office/powerpoint/2010/main" val="2639829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CSS </a:t>
            </a:r>
            <a:r>
              <a:rPr lang="en-IN" dirty="0" smtClean="0"/>
              <a:t>Syntax</a:t>
            </a:r>
            <a:endParaRPr lang="en-IN" dirty="0"/>
          </a:p>
        </p:txBody>
      </p:sp>
      <p:sp>
        <p:nvSpPr>
          <p:cNvPr id="3" name="Content Placeholder 2"/>
          <p:cNvSpPr>
            <a:spLocks noGrp="1"/>
          </p:cNvSpPr>
          <p:nvPr>
            <p:ph idx="1"/>
          </p:nvPr>
        </p:nvSpPr>
        <p:spPr/>
        <p:txBody>
          <a:bodyPr/>
          <a:lstStyle/>
          <a:p>
            <a:r>
              <a:rPr lang="en-GB" dirty="0"/>
              <a:t>A CSS rule consists of a selector and a declaration block:</a:t>
            </a:r>
          </a:p>
          <a:p>
            <a:r>
              <a:rPr lang="en-GB" dirty="0" smtClean="0"/>
              <a:t>&lt;selector&gt; {&lt;property&gt;:&lt;value&gt;}</a:t>
            </a:r>
          </a:p>
          <a:p>
            <a:pPr marL="0" indent="0">
              <a:buNone/>
            </a:pPr>
            <a:r>
              <a:rPr lang="en-GB" dirty="0" err="1" smtClean="0"/>
              <a:t>E.g</a:t>
            </a:r>
            <a:r>
              <a:rPr lang="en-IN" dirty="0" smtClean="0"/>
              <a:t>          p</a:t>
            </a:r>
            <a:r>
              <a:rPr lang="en-IN" dirty="0"/>
              <a:t> </a:t>
            </a:r>
            <a:r>
              <a:rPr lang="en-IN" dirty="0" smtClean="0"/>
              <a:t>{</a:t>
            </a:r>
            <a:r>
              <a:rPr lang="en-IN" dirty="0"/>
              <a:t>  </a:t>
            </a:r>
            <a:r>
              <a:rPr lang="en-IN" dirty="0" err="1"/>
              <a:t>color</a:t>
            </a:r>
            <a:r>
              <a:rPr lang="en-IN" dirty="0"/>
              <a:t>: red;</a:t>
            </a:r>
            <a:br>
              <a:rPr lang="en-IN" dirty="0"/>
            </a:br>
            <a:r>
              <a:rPr lang="en-IN" dirty="0"/>
              <a:t> </a:t>
            </a:r>
            <a:r>
              <a:rPr lang="en-IN" dirty="0" smtClean="0"/>
              <a:t>		</a:t>
            </a:r>
            <a:r>
              <a:rPr lang="en-IN" dirty="0"/>
              <a:t> text-align: </a:t>
            </a:r>
            <a:r>
              <a:rPr lang="en-IN" dirty="0" err="1"/>
              <a:t>center</a:t>
            </a:r>
            <a:r>
              <a:rPr lang="en-IN" dirty="0"/>
              <a:t>;</a:t>
            </a:r>
            <a:br>
              <a:rPr lang="en-IN" dirty="0"/>
            </a:br>
            <a:r>
              <a:rPr lang="en-IN" dirty="0" smtClean="0"/>
              <a:t>		}</a:t>
            </a:r>
          </a:p>
          <a:p>
            <a:pPr marL="0" indent="0">
              <a:buNone/>
            </a:pPr>
            <a:endParaRPr lang="en-GB" dirty="0" smtClean="0"/>
          </a:p>
        </p:txBody>
      </p:sp>
    </p:spTree>
    <p:extLst>
      <p:ext uri="{BB962C8B-B14F-4D97-AF65-F5344CB8AC3E}">
        <p14:creationId xmlns:p14="http://schemas.microsoft.com/office/powerpoint/2010/main" val="2783499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Selector	</a:t>
            </a:r>
            <a:endParaRPr lang="en-IN" dirty="0"/>
          </a:p>
        </p:txBody>
      </p:sp>
      <p:sp>
        <p:nvSpPr>
          <p:cNvPr id="3" name="Content Placeholder 2"/>
          <p:cNvSpPr>
            <a:spLocks noGrp="1"/>
          </p:cNvSpPr>
          <p:nvPr>
            <p:ph idx="1"/>
          </p:nvPr>
        </p:nvSpPr>
        <p:spPr/>
        <p:txBody>
          <a:bodyPr/>
          <a:lstStyle/>
          <a:p>
            <a:r>
              <a:rPr lang="en-GB" dirty="0" smtClean="0"/>
              <a:t>Element Selectors </a:t>
            </a:r>
          </a:p>
          <a:p>
            <a:pPr marL="0" indent="0">
              <a:buNone/>
            </a:pPr>
            <a:r>
              <a:rPr lang="en-GB" dirty="0"/>
              <a:t> </a:t>
            </a:r>
            <a:r>
              <a:rPr lang="en-GB" dirty="0" smtClean="0"/>
              <a:t>      -  All particular element is affected </a:t>
            </a:r>
          </a:p>
          <a:p>
            <a:pPr marL="0" indent="0">
              <a:buNone/>
            </a:pPr>
            <a:r>
              <a:rPr lang="en-GB" dirty="0" smtClean="0"/>
              <a:t> id Selectors</a:t>
            </a:r>
          </a:p>
          <a:p>
            <a:pPr marL="0" indent="0">
              <a:buNone/>
            </a:pPr>
            <a:r>
              <a:rPr lang="en-GB" dirty="0" smtClean="0"/>
              <a:t>Class Selectors for all </a:t>
            </a:r>
            <a:r>
              <a:rPr lang="en-GB" dirty="0" err="1" smtClean="0"/>
              <a:t>elemenets</a:t>
            </a:r>
            <a:endParaRPr lang="en-GB" dirty="0" smtClean="0"/>
          </a:p>
          <a:p>
            <a:pPr marL="0" indent="0">
              <a:buNone/>
            </a:pPr>
            <a:r>
              <a:rPr lang="en-GB" dirty="0" smtClean="0"/>
              <a:t>Class Selectors for particular elements </a:t>
            </a:r>
          </a:p>
          <a:p>
            <a:pPr marL="0" indent="0">
              <a:buNone/>
            </a:pPr>
            <a:r>
              <a:rPr lang="en-GB" dirty="0" smtClean="0"/>
              <a:t>Grouping </a:t>
            </a:r>
          </a:p>
          <a:p>
            <a:pPr marL="0" indent="0">
              <a:buNone/>
            </a:pPr>
            <a:r>
              <a:rPr lang="en-GB" dirty="0" smtClean="0"/>
              <a:t>Multiple class </a:t>
            </a:r>
          </a:p>
          <a:p>
            <a:pPr marL="0" indent="0">
              <a:buNone/>
            </a:pPr>
            <a:endParaRPr lang="en-IN" dirty="0"/>
          </a:p>
        </p:txBody>
      </p:sp>
    </p:spTree>
    <p:extLst>
      <p:ext uri="{BB962C8B-B14F-4D97-AF65-F5344CB8AC3E}">
        <p14:creationId xmlns:p14="http://schemas.microsoft.com/office/powerpoint/2010/main" val="1298201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 of CSS</a:t>
            </a:r>
            <a:endParaRPr lang="en-IN" dirty="0"/>
          </a:p>
        </p:txBody>
      </p:sp>
      <p:sp>
        <p:nvSpPr>
          <p:cNvPr id="3" name="Content Placeholder 2"/>
          <p:cNvSpPr>
            <a:spLocks noGrp="1"/>
          </p:cNvSpPr>
          <p:nvPr>
            <p:ph idx="1"/>
          </p:nvPr>
        </p:nvSpPr>
        <p:spPr/>
        <p:txBody>
          <a:bodyPr>
            <a:normAutofit fontScale="92500" lnSpcReduction="10000"/>
          </a:bodyPr>
          <a:lstStyle/>
          <a:p>
            <a:r>
              <a:rPr lang="en-GB" dirty="0" smtClean="0"/>
              <a:t>Inline CSS</a:t>
            </a:r>
          </a:p>
          <a:p>
            <a:pPr marL="0" indent="0">
              <a:buNone/>
            </a:pPr>
            <a:r>
              <a:rPr lang="en-GB" dirty="0" smtClean="0"/>
              <a:t> &lt;h1 style="</a:t>
            </a:r>
            <a:r>
              <a:rPr lang="en-GB" dirty="0" err="1" smtClean="0"/>
              <a:t>color:blue;text-align:center</a:t>
            </a:r>
            <a:r>
              <a:rPr lang="en-GB" dirty="0" smtClean="0"/>
              <a:t>;"&gt;This is a heading&lt;/h1&gt;</a:t>
            </a:r>
          </a:p>
          <a:p>
            <a:pPr marL="0" indent="0">
              <a:buNone/>
            </a:pPr>
            <a:endParaRPr lang="en-GB" dirty="0"/>
          </a:p>
          <a:p>
            <a:pPr marL="0" indent="0">
              <a:buNone/>
            </a:pPr>
            <a:r>
              <a:rPr lang="en-GB" dirty="0" smtClean="0"/>
              <a:t>Internal CSS </a:t>
            </a:r>
          </a:p>
          <a:p>
            <a:pPr marL="0" indent="0">
              <a:buNone/>
            </a:pPr>
            <a:r>
              <a:rPr lang="en-GB" dirty="0" smtClean="0"/>
              <a:t>&lt;style&gt; tag </a:t>
            </a:r>
          </a:p>
          <a:p>
            <a:pPr marL="0" indent="0">
              <a:buNone/>
            </a:pPr>
            <a:endParaRPr lang="en-GB" dirty="0"/>
          </a:p>
          <a:p>
            <a:pPr marL="0" indent="0">
              <a:buNone/>
            </a:pPr>
            <a:r>
              <a:rPr lang="en-GB" dirty="0" smtClean="0"/>
              <a:t>External CSS – file with extension .</a:t>
            </a:r>
            <a:r>
              <a:rPr lang="en-GB" dirty="0" err="1" smtClean="0"/>
              <a:t>css</a:t>
            </a:r>
            <a:endParaRPr lang="en-GB" dirty="0" smtClean="0"/>
          </a:p>
          <a:p>
            <a:pPr marL="0" indent="0">
              <a:buNone/>
            </a:pPr>
            <a:r>
              <a:rPr lang="en-GB" dirty="0" smtClean="0"/>
              <a:t>&lt;link </a:t>
            </a:r>
            <a:r>
              <a:rPr lang="en-GB" dirty="0" err="1" smtClean="0"/>
              <a:t>rel</a:t>
            </a:r>
            <a:r>
              <a:rPr lang="en-GB" dirty="0" smtClean="0"/>
              <a:t>="stylesheet" </a:t>
            </a:r>
            <a:r>
              <a:rPr lang="en-GB" dirty="0" err="1" smtClean="0"/>
              <a:t>href</a:t>
            </a:r>
            <a:r>
              <a:rPr lang="en-GB" dirty="0" smtClean="0"/>
              <a:t>="mystyle.css"&gt;</a:t>
            </a:r>
            <a:endParaRPr lang="en-IN" dirty="0"/>
          </a:p>
        </p:txBody>
      </p:sp>
    </p:spTree>
    <p:extLst>
      <p:ext uri="{BB962C8B-B14F-4D97-AF65-F5344CB8AC3E}">
        <p14:creationId xmlns:p14="http://schemas.microsoft.com/office/powerpoint/2010/main" val="45670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CSS </a:t>
            </a:r>
            <a:r>
              <a:rPr lang="en-GB" dirty="0" err="1" smtClean="0"/>
              <a:t>Colors</a:t>
            </a:r>
            <a:endParaRPr lang="en-IN" dirty="0"/>
          </a:p>
        </p:txBody>
      </p:sp>
      <p:sp>
        <p:nvSpPr>
          <p:cNvPr id="3" name="Content Placeholder 2"/>
          <p:cNvSpPr>
            <a:spLocks noGrp="1"/>
          </p:cNvSpPr>
          <p:nvPr>
            <p:ph idx="1"/>
          </p:nvPr>
        </p:nvSpPr>
        <p:spPr/>
        <p:txBody>
          <a:bodyPr>
            <a:normAutofit fontScale="77500" lnSpcReduction="20000"/>
          </a:bodyPr>
          <a:lstStyle/>
          <a:p>
            <a:r>
              <a:rPr lang="en-GB" dirty="0"/>
              <a:t>In CSS, </a:t>
            </a:r>
            <a:r>
              <a:rPr lang="en-GB" dirty="0" err="1"/>
              <a:t>colors</a:t>
            </a:r>
            <a:r>
              <a:rPr lang="en-GB" dirty="0"/>
              <a:t> are specified by using a predefined </a:t>
            </a:r>
            <a:r>
              <a:rPr lang="en-GB" dirty="0" err="1"/>
              <a:t>color</a:t>
            </a:r>
            <a:r>
              <a:rPr lang="en-GB" dirty="0"/>
              <a:t> name, or with a RGB, HEX, HSL, RGBA, HSLA value</a:t>
            </a:r>
            <a:r>
              <a:rPr lang="en-GB" dirty="0" smtClean="0"/>
              <a:t>.</a:t>
            </a:r>
          </a:p>
          <a:p>
            <a:r>
              <a:rPr lang="en-GB" dirty="0"/>
              <a:t>&lt;h1 style="</a:t>
            </a:r>
            <a:r>
              <a:rPr lang="en-GB" dirty="0" err="1"/>
              <a:t>background-color:DodgerBlue</a:t>
            </a:r>
            <a:r>
              <a:rPr lang="en-GB" dirty="0"/>
              <a:t>;"&gt;Hello World&lt;/h1</a:t>
            </a:r>
            <a:r>
              <a:rPr lang="en-GB" dirty="0" smtClean="0"/>
              <a:t>&gt;</a:t>
            </a:r>
          </a:p>
          <a:p>
            <a:endParaRPr lang="en-GB" dirty="0"/>
          </a:p>
          <a:p>
            <a:r>
              <a:rPr lang="en-IN" dirty="0"/>
              <a:t>&lt;h1 style="</a:t>
            </a:r>
            <a:r>
              <a:rPr lang="en-IN" dirty="0" err="1"/>
              <a:t>background-color:rgb</a:t>
            </a:r>
            <a:r>
              <a:rPr lang="en-IN" dirty="0"/>
              <a:t>(255, 99, 71);"&gt;...&lt;/h1&gt;</a:t>
            </a:r>
            <a:r>
              <a:rPr lang="en-IN" dirty="0" smtClean="0"/>
              <a:t/>
            </a:r>
            <a:br>
              <a:rPr lang="en-IN" dirty="0" smtClean="0"/>
            </a:br>
            <a:r>
              <a:rPr lang="en-IN" dirty="0"/>
              <a:t>&lt;h1 style="background-</a:t>
            </a:r>
            <a:r>
              <a:rPr lang="en-IN" dirty="0" err="1"/>
              <a:t>color</a:t>
            </a:r>
            <a:r>
              <a:rPr lang="en-IN" dirty="0"/>
              <a:t>:#ff6347;"&gt;...&lt;/h1&gt;</a:t>
            </a:r>
            <a:r>
              <a:rPr lang="en-IN" dirty="0" smtClean="0"/>
              <a:t/>
            </a:r>
            <a:br>
              <a:rPr lang="en-IN" dirty="0" smtClean="0"/>
            </a:br>
            <a:r>
              <a:rPr lang="en-IN" dirty="0"/>
              <a:t>&lt;h1 style="</a:t>
            </a:r>
            <a:r>
              <a:rPr lang="en-IN" dirty="0" err="1"/>
              <a:t>background-color:hsl</a:t>
            </a:r>
            <a:r>
              <a:rPr lang="en-IN" dirty="0"/>
              <a:t>(9, 100%, 64%);"&gt;...&lt;/h1&gt;</a:t>
            </a:r>
            <a:r>
              <a:rPr lang="en-IN" dirty="0" smtClean="0"/>
              <a:t/>
            </a:r>
            <a:br>
              <a:rPr lang="en-IN" dirty="0" smtClean="0"/>
            </a:br>
            <a:r>
              <a:rPr lang="en-IN" dirty="0" smtClean="0"/>
              <a:t/>
            </a:r>
            <a:br>
              <a:rPr lang="en-IN" dirty="0" smtClean="0"/>
            </a:br>
            <a:r>
              <a:rPr lang="en-IN" dirty="0"/>
              <a:t>&lt;h1 style="</a:t>
            </a:r>
            <a:r>
              <a:rPr lang="en-IN" dirty="0" err="1"/>
              <a:t>background-color:rgba</a:t>
            </a:r>
            <a:r>
              <a:rPr lang="en-IN" dirty="0"/>
              <a:t>(255, 99, 71, 0.5);"&gt;...&lt;/h1&gt;</a:t>
            </a:r>
            <a:r>
              <a:rPr lang="en-IN" dirty="0" smtClean="0"/>
              <a:t/>
            </a:r>
            <a:br>
              <a:rPr lang="en-IN" dirty="0" smtClean="0"/>
            </a:br>
            <a:r>
              <a:rPr lang="en-IN" dirty="0"/>
              <a:t>&lt;h1 style="</a:t>
            </a:r>
            <a:r>
              <a:rPr lang="en-IN" dirty="0" err="1"/>
              <a:t>background-color:hsla</a:t>
            </a:r>
            <a:r>
              <a:rPr lang="en-IN" dirty="0"/>
              <a:t>(9, 100%, 64%, 0.5);"&gt;...&lt;/h1&gt;</a:t>
            </a:r>
          </a:p>
        </p:txBody>
      </p:sp>
    </p:spTree>
    <p:extLst>
      <p:ext uri="{BB962C8B-B14F-4D97-AF65-F5344CB8AC3E}">
        <p14:creationId xmlns:p14="http://schemas.microsoft.com/office/powerpoint/2010/main" val="1089270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smtClean="0"/>
              <a:t>CSS Borders -  Applying Border </a:t>
            </a:r>
          </a:p>
          <a:p>
            <a:r>
              <a:rPr lang="en-GB" dirty="0" smtClean="0"/>
              <a:t>CSS Margin </a:t>
            </a:r>
            <a:r>
              <a:rPr lang="en-GB" dirty="0"/>
              <a:t>The CSS margin properties are used to create space around elements, outside of any defined borders.</a:t>
            </a:r>
          </a:p>
          <a:p>
            <a:r>
              <a:rPr lang="en-GB" dirty="0"/>
              <a:t>Margins define the distance between an element's border and the surrounding elements.</a:t>
            </a:r>
          </a:p>
          <a:p>
            <a:endParaRPr lang="en-IN" dirty="0"/>
          </a:p>
        </p:txBody>
      </p:sp>
    </p:spTree>
    <p:extLst>
      <p:ext uri="{BB962C8B-B14F-4D97-AF65-F5344CB8AC3E}">
        <p14:creationId xmlns:p14="http://schemas.microsoft.com/office/powerpoint/2010/main" val="1605735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GB" dirty="0"/>
              <a:t>CSS Padding</a:t>
            </a:r>
          </a:p>
          <a:p>
            <a:r>
              <a:rPr lang="en-GB" dirty="0"/>
              <a:t>The CSS padding properties are used to generate space around an element's content, inside of any defined borders.</a:t>
            </a:r>
          </a:p>
          <a:p>
            <a:r>
              <a:rPr lang="en-GB" dirty="0"/>
              <a:t>With CSS, you have full control over the padding. There are properties for setting the padding for each side of an element (top, right, bottom, and left), and a shorthand property for setting all the padding properties in one declaration.</a:t>
            </a:r>
          </a:p>
          <a:p>
            <a:endParaRPr lang="en-IN" dirty="0"/>
          </a:p>
        </p:txBody>
      </p:sp>
    </p:spTree>
    <p:extLst>
      <p:ext uri="{BB962C8B-B14F-4D97-AF65-F5344CB8AC3E}">
        <p14:creationId xmlns:p14="http://schemas.microsoft.com/office/powerpoint/2010/main" val="2441030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GB" dirty="0"/>
              <a:t>The CSS Box Model</a:t>
            </a:r>
          </a:p>
          <a:p>
            <a:r>
              <a:rPr lang="en-GB" dirty="0"/>
              <a:t>In CSS, the term "box model" is used when talking about web design and layout.</a:t>
            </a:r>
          </a:p>
          <a:p>
            <a:r>
              <a:rPr lang="en-GB" dirty="0"/>
              <a:t>The CSS box model is essentially a box that wraps around every HTML element.</a:t>
            </a:r>
          </a:p>
          <a:p>
            <a:r>
              <a:rPr lang="en-GB" dirty="0"/>
              <a:t>Every box consists of four parts: content, padding, borders and margins.</a:t>
            </a:r>
          </a:p>
          <a:p>
            <a:r>
              <a:rPr lang="en-GB" dirty="0"/>
              <a:t>The image below illustrates the CSS box model:</a:t>
            </a:r>
          </a:p>
          <a:p>
            <a:endParaRPr lang="en-IN" dirty="0"/>
          </a:p>
        </p:txBody>
      </p:sp>
    </p:spTree>
    <p:extLst>
      <p:ext uri="{BB962C8B-B14F-4D97-AF65-F5344CB8AC3E}">
        <p14:creationId xmlns:p14="http://schemas.microsoft.com/office/powerpoint/2010/main" val="338164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942941"/>
            <a:ext cx="8229600" cy="384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4919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GB" dirty="0"/>
              <a:t>Explanation of the different parts (from innermost part to outermost part):</a:t>
            </a:r>
          </a:p>
          <a:p>
            <a:r>
              <a:rPr lang="en-GB" b="1" dirty="0"/>
              <a:t>Content</a:t>
            </a:r>
            <a:r>
              <a:rPr lang="en-GB" dirty="0"/>
              <a:t> - The content of the box, where text and images appear</a:t>
            </a:r>
          </a:p>
          <a:p>
            <a:r>
              <a:rPr lang="en-GB" b="1" dirty="0"/>
              <a:t>Padding</a:t>
            </a:r>
            <a:r>
              <a:rPr lang="en-GB" dirty="0"/>
              <a:t> - Clears an area around the content. The padding is transparent</a:t>
            </a:r>
          </a:p>
          <a:p>
            <a:r>
              <a:rPr lang="en-GB" b="1" dirty="0"/>
              <a:t>Border</a:t>
            </a:r>
            <a:r>
              <a:rPr lang="en-GB" dirty="0"/>
              <a:t> - A border that goes around the padding and content</a:t>
            </a:r>
          </a:p>
          <a:p>
            <a:r>
              <a:rPr lang="en-GB" b="1" dirty="0"/>
              <a:t>Margin</a:t>
            </a:r>
            <a:r>
              <a:rPr lang="en-GB" dirty="0"/>
              <a:t> - Clears an area outside the border. The margin is transparent</a:t>
            </a:r>
          </a:p>
          <a:p>
            <a:endParaRPr lang="en-IN" dirty="0"/>
          </a:p>
        </p:txBody>
      </p:sp>
    </p:spTree>
    <p:extLst>
      <p:ext uri="{BB962C8B-B14F-4D97-AF65-F5344CB8AC3E}">
        <p14:creationId xmlns:p14="http://schemas.microsoft.com/office/powerpoint/2010/main" val="3067752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Font Selection </a:t>
            </a:r>
            <a:endParaRPr lang="en-IN" dirty="0"/>
          </a:p>
        </p:txBody>
      </p:sp>
      <p:sp>
        <p:nvSpPr>
          <p:cNvPr id="3" name="Content Placeholder 2"/>
          <p:cNvSpPr>
            <a:spLocks noGrp="1"/>
          </p:cNvSpPr>
          <p:nvPr>
            <p:ph idx="1"/>
          </p:nvPr>
        </p:nvSpPr>
        <p:spPr/>
        <p:txBody>
          <a:bodyPr>
            <a:normAutofit/>
          </a:bodyPr>
          <a:lstStyle/>
          <a:p>
            <a:r>
              <a:rPr lang="en-GB" dirty="0"/>
              <a:t>Font Selection is Important</a:t>
            </a:r>
          </a:p>
          <a:p>
            <a:r>
              <a:rPr lang="en-GB" dirty="0"/>
              <a:t>Choosing the right font has a huge impact on how the readers experience a website.</a:t>
            </a:r>
          </a:p>
          <a:p>
            <a:r>
              <a:rPr lang="en-GB" dirty="0"/>
              <a:t>The right font can create a strong identity for your brand.</a:t>
            </a:r>
          </a:p>
          <a:p>
            <a:r>
              <a:rPr lang="en-GB" dirty="0"/>
              <a:t>Choosing a font that is easy to read is important. It is also important to choose a good </a:t>
            </a:r>
            <a:r>
              <a:rPr lang="en-GB" dirty="0" err="1"/>
              <a:t>color</a:t>
            </a:r>
            <a:r>
              <a:rPr lang="en-GB" dirty="0"/>
              <a:t> and size for your font.</a:t>
            </a:r>
          </a:p>
          <a:p>
            <a:endParaRPr lang="en-IN" dirty="0"/>
          </a:p>
        </p:txBody>
      </p:sp>
    </p:spTree>
    <p:extLst>
      <p:ext uri="{BB962C8B-B14F-4D97-AF65-F5344CB8AC3E}">
        <p14:creationId xmlns:p14="http://schemas.microsoft.com/office/powerpoint/2010/main" val="3445909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GB" dirty="0"/>
              <a:t>.p1 {</a:t>
            </a:r>
            <a:br>
              <a:rPr lang="en-GB" dirty="0"/>
            </a:br>
            <a:r>
              <a:rPr lang="en-GB" dirty="0"/>
              <a:t>  font-family: "Times New Roman", Times, serif;</a:t>
            </a:r>
            <a:br>
              <a:rPr lang="en-GB" dirty="0"/>
            </a:br>
            <a:r>
              <a:rPr lang="en-GB" dirty="0" smtClean="0"/>
              <a:t>}</a:t>
            </a:r>
          </a:p>
          <a:p>
            <a:pPr marL="0" indent="0">
              <a:buNone/>
            </a:pPr>
            <a:r>
              <a:rPr lang="en-GB" b="1" dirty="0"/>
              <a:t>CSS Generic Font Families</a:t>
            </a:r>
          </a:p>
          <a:p>
            <a:r>
              <a:rPr lang="en-GB" b="1" smtClean="0"/>
              <a:t>Serif </a:t>
            </a:r>
            <a:r>
              <a:rPr lang="en-GB" b="1" dirty="0"/>
              <a:t>fonts</a:t>
            </a:r>
            <a:r>
              <a:rPr lang="en-GB" dirty="0"/>
              <a:t> - have a small stroke at the edges of each letter. They create a sense of formality and elegance.</a:t>
            </a:r>
          </a:p>
          <a:p>
            <a:r>
              <a:rPr lang="en-GB" b="1" dirty="0"/>
              <a:t>Sans-serif fonts</a:t>
            </a:r>
            <a:r>
              <a:rPr lang="en-GB" dirty="0"/>
              <a:t> - have clean lines (no small strokes attached). They create a modern and minimalistic look.</a:t>
            </a:r>
          </a:p>
          <a:p>
            <a:r>
              <a:rPr lang="en-GB" b="1" dirty="0"/>
              <a:t>Monospace fonts</a:t>
            </a:r>
            <a:r>
              <a:rPr lang="en-GB" dirty="0"/>
              <a:t> - here all the letters have the same fixed width. They create a mechanical look.</a:t>
            </a:r>
          </a:p>
          <a:p>
            <a:r>
              <a:rPr lang="en-GB" b="1" dirty="0"/>
              <a:t>Cursive fonts</a:t>
            </a:r>
            <a:r>
              <a:rPr lang="en-GB" dirty="0"/>
              <a:t> - imitate human handwriting.</a:t>
            </a:r>
          </a:p>
          <a:p>
            <a:r>
              <a:rPr lang="en-GB" b="1" dirty="0"/>
              <a:t>Fantasy fonts</a:t>
            </a:r>
            <a:r>
              <a:rPr lang="en-GB" dirty="0"/>
              <a:t> - are decorative/playful fonts.</a:t>
            </a:r>
          </a:p>
          <a:p>
            <a:r>
              <a:rPr lang="en-GB" dirty="0"/>
              <a:t>All the different font names belong to one of the generic font families.</a:t>
            </a:r>
          </a:p>
          <a:p>
            <a:endParaRPr lang="en-IN" dirty="0"/>
          </a:p>
        </p:txBody>
      </p:sp>
    </p:spTree>
    <p:extLst>
      <p:ext uri="{BB962C8B-B14F-4D97-AF65-F5344CB8AC3E}">
        <p14:creationId xmlns:p14="http://schemas.microsoft.com/office/powerpoint/2010/main" val="3025487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CSS Icons</a:t>
            </a:r>
            <a:endParaRPr lang="en-IN" dirty="0"/>
          </a:p>
        </p:txBody>
      </p:sp>
      <p:sp>
        <p:nvSpPr>
          <p:cNvPr id="3" name="Content Placeholder 2"/>
          <p:cNvSpPr>
            <a:spLocks noGrp="1"/>
          </p:cNvSpPr>
          <p:nvPr>
            <p:ph idx="1"/>
          </p:nvPr>
        </p:nvSpPr>
        <p:spPr/>
        <p:txBody>
          <a:bodyPr/>
          <a:lstStyle/>
          <a:p>
            <a:r>
              <a:rPr lang="en-GB" dirty="0"/>
              <a:t> are an essential part of modern web design, offering a visual representation of actions, ideas, and objects. CSS icons offer a compelling way to achieve this by seamlessly integrating scalable and customizable icons into your web design. CSS Icons from various libraries can be effortlessly styled and customized with CSS, allowing for alterations in size, </a:t>
            </a:r>
            <a:r>
              <a:rPr lang="en-GB" dirty="0" err="1"/>
              <a:t>color</a:t>
            </a:r>
            <a:r>
              <a:rPr lang="en-GB" dirty="0"/>
              <a:t>, shadow, and more</a:t>
            </a:r>
            <a:endParaRPr lang="en-IN" dirty="0"/>
          </a:p>
        </p:txBody>
      </p:sp>
    </p:spTree>
    <p:extLst>
      <p:ext uri="{BB962C8B-B14F-4D97-AF65-F5344CB8AC3E}">
        <p14:creationId xmlns:p14="http://schemas.microsoft.com/office/powerpoint/2010/main" val="3905299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CSS Icons</a:t>
            </a:r>
            <a:endParaRPr lang="en-IN" dirty="0"/>
          </a:p>
        </p:txBody>
      </p:sp>
      <p:sp>
        <p:nvSpPr>
          <p:cNvPr id="3" name="Content Placeholder 2"/>
          <p:cNvSpPr>
            <a:spLocks noGrp="1"/>
          </p:cNvSpPr>
          <p:nvPr>
            <p:ph idx="1"/>
          </p:nvPr>
        </p:nvSpPr>
        <p:spPr/>
        <p:txBody>
          <a:bodyPr/>
          <a:lstStyle/>
          <a:p>
            <a:r>
              <a:rPr lang="en-GB" dirty="0"/>
              <a:t>Implementing CSS icons from various libraries is straightforward and enhances the aesthetic appeal and functionality of your web </a:t>
            </a:r>
            <a:r>
              <a:rPr lang="en-GB" dirty="0" smtClean="0"/>
              <a:t>pages</a:t>
            </a:r>
          </a:p>
          <a:p>
            <a:endParaRPr lang="en-GB" dirty="0"/>
          </a:p>
          <a:p>
            <a:pPr fontAlgn="base"/>
            <a:r>
              <a:rPr lang="en-IN" b="1" dirty="0"/>
              <a:t>Font Awesome Icons</a:t>
            </a:r>
            <a:endParaRPr lang="en-IN" dirty="0"/>
          </a:p>
          <a:p>
            <a:pPr fontAlgn="base"/>
            <a:r>
              <a:rPr lang="en-IN" b="1" dirty="0"/>
              <a:t>Google Icons</a:t>
            </a:r>
            <a:endParaRPr lang="en-IN" dirty="0"/>
          </a:p>
          <a:p>
            <a:pPr fontAlgn="base"/>
            <a:r>
              <a:rPr lang="en-IN" b="1" dirty="0"/>
              <a:t>Bootstrap Icons</a:t>
            </a:r>
            <a:endParaRPr lang="en-IN" dirty="0"/>
          </a:p>
          <a:p>
            <a:endParaRPr lang="en-IN" dirty="0"/>
          </a:p>
        </p:txBody>
      </p:sp>
    </p:spTree>
    <p:extLst>
      <p:ext uri="{BB962C8B-B14F-4D97-AF65-F5344CB8AC3E}">
        <p14:creationId xmlns:p14="http://schemas.microsoft.com/office/powerpoint/2010/main" val="3684541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i="1" dirty="0"/>
              <a:t>&lt;link </a:t>
            </a:r>
            <a:r>
              <a:rPr lang="en-GB" i="1" dirty="0" err="1"/>
              <a:t>rel</a:t>
            </a:r>
            <a:r>
              <a:rPr lang="en-GB" i="1" dirty="0"/>
              <a:t>="stylesheet" </a:t>
            </a:r>
            <a:r>
              <a:rPr lang="en-GB" i="1" dirty="0" err="1"/>
              <a:t>href</a:t>
            </a:r>
            <a:r>
              <a:rPr lang="en-GB" i="1" dirty="0"/>
              <a:t>="https://cdnjs.cloudflare.com/ajax/libs/font-awesome/4.7.0/</a:t>
            </a:r>
            <a:r>
              <a:rPr lang="en-GB" i="1" dirty="0" err="1"/>
              <a:t>css</a:t>
            </a:r>
            <a:r>
              <a:rPr lang="en-GB" i="1" dirty="0"/>
              <a:t>/font-awesome.min.css</a:t>
            </a:r>
            <a:r>
              <a:rPr lang="en-GB" i="1" dirty="0" smtClean="0"/>
              <a:t>"&gt;</a:t>
            </a:r>
          </a:p>
          <a:p>
            <a:endParaRPr lang="en-GB" i="1" dirty="0"/>
          </a:p>
          <a:p>
            <a:r>
              <a:rPr lang="en-GB" i="1" dirty="0"/>
              <a:t>&lt;link </a:t>
            </a:r>
            <a:r>
              <a:rPr lang="en-GB" i="1" dirty="0" err="1"/>
              <a:t>rel</a:t>
            </a:r>
            <a:r>
              <a:rPr lang="en-GB" i="1" dirty="0"/>
              <a:t>="stylesheet" </a:t>
            </a:r>
            <a:r>
              <a:rPr lang="en-GB" i="1" dirty="0" err="1"/>
              <a:t>href</a:t>
            </a:r>
            <a:r>
              <a:rPr lang="en-GB" i="1" dirty="0"/>
              <a:t>="https://fonts.googleapis.com/</a:t>
            </a:r>
            <a:r>
              <a:rPr lang="en-GB" i="1" dirty="0" err="1"/>
              <a:t>icon?family</a:t>
            </a:r>
            <a:r>
              <a:rPr lang="en-GB" i="1" dirty="0"/>
              <a:t>=</a:t>
            </a:r>
            <a:r>
              <a:rPr lang="en-GB" i="1" dirty="0" err="1"/>
              <a:t>Material+Icons</a:t>
            </a:r>
            <a:r>
              <a:rPr lang="en-GB" i="1" dirty="0"/>
              <a:t>"&gt;</a:t>
            </a:r>
            <a:endParaRPr lang="en-IN" dirty="0"/>
          </a:p>
        </p:txBody>
      </p:sp>
    </p:spTree>
    <p:extLst>
      <p:ext uri="{BB962C8B-B14F-4D97-AF65-F5344CB8AC3E}">
        <p14:creationId xmlns:p14="http://schemas.microsoft.com/office/powerpoint/2010/main" val="2900440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65994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TotalTime>
  <Words>920</Words>
  <Application>Microsoft Office PowerPoint</Application>
  <PresentationFormat>On-screen Show (4:3)</PresentationFormat>
  <Paragraphs>118</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iframe</vt:lpstr>
      <vt:lpstr>Hyperlink</vt:lpstr>
      <vt:lpstr>Input Elemenets</vt:lpstr>
      <vt:lpstr>Attributes of input tags </vt:lpstr>
      <vt:lpstr>CSS</vt:lpstr>
      <vt:lpstr>CSS Syntax</vt:lpstr>
      <vt:lpstr>Types of Selector </vt:lpstr>
      <vt:lpstr>Type of CSS</vt:lpstr>
      <vt:lpstr>CSS Colors</vt:lpstr>
      <vt:lpstr>PowerPoint Presentation</vt:lpstr>
      <vt:lpstr>PowerPoint Presentation</vt:lpstr>
      <vt:lpstr>PowerPoint Presentation</vt:lpstr>
      <vt:lpstr>PowerPoint Presentation</vt:lpstr>
      <vt:lpstr>PowerPoint Presentation</vt:lpstr>
      <vt:lpstr>Font Selection </vt:lpstr>
      <vt:lpstr>PowerPoint Presentation</vt:lpstr>
      <vt:lpstr>CSS Icons</vt:lpstr>
      <vt:lpstr>CSS Icons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15</cp:revision>
  <dcterms:created xsi:type="dcterms:W3CDTF">2025-09-09T23:33:49Z</dcterms:created>
  <dcterms:modified xsi:type="dcterms:W3CDTF">2026-03-02T02:30:19Z</dcterms:modified>
</cp:coreProperties>
</file>